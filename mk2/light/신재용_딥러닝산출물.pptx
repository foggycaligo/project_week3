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1" r:id="rId2"/>
  </p:sldMasterIdLst>
  <p:notesMasterIdLst>
    <p:notesMasterId r:id="rId16"/>
  </p:notesMasterIdLst>
  <p:sldIdLst>
    <p:sldId id="256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25" d="100"/>
          <a:sy n="125" d="100"/>
        </p:scale>
        <p:origin x="-5918" y="-192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ko-KR" sz="1800" b="0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슬라이드를 이동하려면 클릭하십시오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.</a:t>
            </a: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>
              <a:buNone/>
            </a:pP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메모 서식을 편집하려면 클릭하십시오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.</a:t>
            </a:r>
          </a:p>
        </p:txBody>
      </p:sp>
      <p:sp>
        <p:nvSpPr>
          <p:cNvPr id="1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 </a:t>
            </a:r>
          </a:p>
        </p:txBody>
      </p:sp>
      <p:sp>
        <p:nvSpPr>
          <p:cNvPr id="17" name="PlaceHolder 4"/>
          <p:cNvSpPr>
            <a:spLocks noGrp="1"/>
          </p:cNvSpPr>
          <p:nvPr>
            <p:ph type="dt" idx="3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맑은 고딕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 </a:t>
            </a:r>
          </a:p>
        </p:txBody>
      </p:sp>
      <p:sp>
        <p:nvSpPr>
          <p:cNvPr id="18" name="PlaceHolder 5"/>
          <p:cNvSpPr>
            <a:spLocks noGrp="1"/>
          </p:cNvSpPr>
          <p:nvPr>
            <p:ph type="ftr" idx="4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맑은 고딕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 </a:t>
            </a:r>
          </a:p>
        </p:txBody>
      </p:sp>
      <p:sp>
        <p:nvSpPr>
          <p:cNvPr id="19" name="PlaceHolder 6"/>
          <p:cNvSpPr>
            <a:spLocks noGrp="1"/>
          </p:cNvSpPr>
          <p:nvPr>
            <p:ph type="sldNum" idx="5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맑은 고딕"/>
              </a:defRPr>
            </a:lvl1pPr>
          </a:lstStyle>
          <a:p>
            <a:pPr indent="0" algn="r">
              <a:buNone/>
            </a:pPr>
            <a:fld id="{63BEE7C8-F7E5-4C8F-AD17-74249A2EC23D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36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65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E92FD4EF-C964-4128-AEBD-FA167C0B42D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36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68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FECE469D-7C0B-4D9A-848F-42C0315986F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4813" cy="3084513"/>
          </a:xfrm>
          <a:prstGeom prst="rect">
            <a:avLst/>
          </a:prstGeom>
          <a:ln w="0">
            <a:noFill/>
          </a:ln>
        </p:spPr>
      </p:sp>
      <p:sp>
        <p:nvSpPr>
          <p:cNvPr id="37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74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B95F7B6-4E0A-4EF9-961C-C67A313E16A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4813" cy="3084513"/>
          </a:xfrm>
          <a:prstGeom prst="rect">
            <a:avLst/>
          </a:prstGeom>
          <a:ln w="0">
            <a:noFill/>
          </a:ln>
        </p:spPr>
      </p:sp>
      <p:sp>
        <p:nvSpPr>
          <p:cNvPr id="37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77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0B489DB1-EC41-4664-8A0B-E221F2ABBAD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4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4813" cy="3084513"/>
          </a:xfrm>
          <a:prstGeom prst="rect">
            <a:avLst/>
          </a:prstGeom>
          <a:ln w="0">
            <a:noFill/>
          </a:ln>
        </p:spPr>
      </p:sp>
      <p:sp>
        <p:nvSpPr>
          <p:cNvPr id="37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 [Sources]</a:t>
            </a: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- dataset_summary.json</a:t>
            </a: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- label_distribution.png</a:t>
            </a:r>
          </a:p>
        </p:txBody>
      </p:sp>
      <p:sp>
        <p:nvSpPr>
          <p:cNvPr id="380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43346A3-1E02-43F0-91AD-D5164C7B983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4813" cy="3084513"/>
          </a:xfrm>
          <a:prstGeom prst="rect">
            <a:avLst/>
          </a:prstGeom>
          <a:ln w="0">
            <a:noFill/>
          </a:ln>
        </p:spPr>
      </p:sp>
      <p:sp>
        <p:nvSpPr>
          <p:cNvPr id="38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83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F76EF59-7811-4433-8E1A-FFAF87E972C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4813" cy="3084513"/>
          </a:xfrm>
          <a:prstGeom prst="rect">
            <a:avLst/>
          </a:prstGeom>
          <a:ln w="0">
            <a:noFill/>
          </a:ln>
        </p:spPr>
      </p:sp>
      <p:sp>
        <p:nvSpPr>
          <p:cNvPr id="38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 [Sources]</a:t>
            </a: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- artifact_manifest.json</a:t>
            </a: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- korean_toxic_comment_streamlit_light.py</a:t>
            </a:r>
          </a:p>
        </p:txBody>
      </p:sp>
      <p:sp>
        <p:nvSpPr>
          <p:cNvPr id="386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6134EAEB-C29F-4C6E-A49F-0CB6306E60B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4813" cy="3084513"/>
          </a:xfrm>
          <a:prstGeom prst="rect">
            <a:avLst/>
          </a:prstGeom>
          <a:ln w="0">
            <a:noFill/>
          </a:ln>
        </p:spPr>
      </p:sp>
      <p:sp>
        <p:nvSpPr>
          <p:cNvPr id="38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89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949F218-9074-4FF2-B78E-FB1D153200C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8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4813" cy="3084513"/>
          </a:xfrm>
          <a:prstGeom prst="rect">
            <a:avLst/>
          </a:prstGeom>
          <a:ln w="0">
            <a:noFill/>
          </a:ln>
        </p:spPr>
      </p:sp>
      <p:sp>
        <p:nvSpPr>
          <p:cNvPr id="39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 [Sources]</a:t>
            </a: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- actual_vs_predicted.png</a:t>
            </a: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- training_history.png</a:t>
            </a: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- probability_distribution.png</a:t>
            </a: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- metrics.json</a:t>
            </a:r>
          </a:p>
        </p:txBody>
      </p:sp>
      <p:sp>
        <p:nvSpPr>
          <p:cNvPr id="392" name="PlaceHolder 3"/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1C13B55E-21BF-4E19-9199-A6BD1A27F6B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9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4813" cy="3084513"/>
          </a:xfrm>
          <a:prstGeom prst="rect">
            <a:avLst/>
          </a:prstGeom>
          <a:ln w="0">
            <a:noFill/>
          </a:ln>
        </p:spPr>
      </p:sp>
      <p:sp>
        <p:nvSpPr>
          <p:cNvPr id="39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95" name="PlaceHolder 3"/>
          <p:cNvSpPr>
            <a:spLocks noGrp="1"/>
          </p:cNvSpPr>
          <p:nvPr>
            <p:ph type="sldNum" idx="25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35BF50CC-9FD6-40C5-86A0-FC481CB465A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ko-KR" sz="1800" b="0" u="none" strike="noStrike">
                <a:solidFill>
                  <a:schemeClr val="dk1"/>
                </a:solidFill>
                <a:effectLst/>
                <a:uFillTx/>
                <a:latin typeface="Malgun Gothic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ko-KR" sz="1800" b="0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제목 텍스트의 서식을 편집하려면 클릭하십시오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.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3976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ko-KR" sz="3200" b="0" u="none" strike="noStrike">
                <a:solidFill>
                  <a:schemeClr val="dk1"/>
                </a:solidFill>
                <a:effectLst/>
                <a:uFillTx/>
                <a:latin typeface="Malgun Gothic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Malgun Gothic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Malgun Gothic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Malgun Gothic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Malgun Gothic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Malgun Gothic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Malgun Gothic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ko-KR" sz="3200" b="0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개요 텍스트의 서식을 편집하려면 클릭하십시오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Malgun Gothic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2</a:t>
            </a:r>
            <a:r>
              <a:rPr lang="ko-KR" sz="2400" b="0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번째 개요 수준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Malgun Gothic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3</a:t>
            </a:r>
            <a:r>
              <a:rPr lang="ko-KR" sz="2000" b="0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번째 개요 수준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Malgun Gothic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4</a:t>
            </a:r>
            <a:r>
              <a:rPr lang="ko-KR" sz="2000" b="0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번째 개요 수준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Malgun Gothic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5</a:t>
            </a:r>
            <a:r>
              <a:rPr lang="ko-KR" sz="2000" b="0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번째 개요 수준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Malgun Gothic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6</a:t>
            </a:r>
            <a:r>
              <a:rPr lang="ko-KR" sz="2000" b="0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번째 개요 수준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Malgun Gothic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7</a:t>
            </a:r>
            <a:r>
              <a:rPr lang="ko-KR" sz="2000" b="0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번째 개요 수준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Malgun Gothic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NTENT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9646920" y="137160"/>
            <a:ext cx="2147760" cy="200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800" b="0" u="none" strike="noStrike">
                <a:solidFill>
                  <a:srgbClr val="5E6B86"/>
                </a:solidFill>
                <a:effectLst/>
                <a:uFillTx/>
                <a:latin typeface="Malgun Gothic"/>
                <a:ea typeface="Malgun Gothic"/>
              </a:rPr>
              <a:t>인공지능개발 양성과정</a:t>
            </a:r>
            <a:r>
              <a:rPr lang="en-US" sz="800" b="0" u="none" strike="noStrike">
                <a:solidFill>
                  <a:srgbClr val="5E6B86"/>
                </a:solidFill>
                <a:effectLst/>
                <a:uFillTx/>
                <a:latin typeface="Malgun Gothic"/>
                <a:ea typeface="Malgun Gothic"/>
              </a:rPr>
              <a:t>_</a:t>
            </a:r>
            <a:r>
              <a:rPr lang="ko-KR" sz="800" b="0" u="none" strike="noStrike">
                <a:solidFill>
                  <a:srgbClr val="5E6B86"/>
                </a:solidFill>
                <a:effectLst/>
                <a:uFillTx/>
                <a:latin typeface="Malgun Gothic"/>
                <a:ea typeface="Malgun Gothic"/>
              </a:rPr>
              <a:t>딥러닝 산출물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" name="Shape 1"/>
          <p:cNvSpPr/>
          <p:nvPr/>
        </p:nvSpPr>
        <p:spPr>
          <a:xfrm>
            <a:off x="411480" y="502920"/>
            <a:ext cx="501840" cy="53640"/>
          </a:xfrm>
          <a:prstGeom prst="rect">
            <a:avLst/>
          </a:prstGeom>
          <a:solidFill>
            <a:srgbClr val="2F60D4"/>
          </a:solidFill>
          <a:ln w="12700">
            <a:solidFill>
              <a:srgbClr val="2F60D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720" rIns="90000" bIns="972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6" name="Shape 2"/>
          <p:cNvSpPr/>
          <p:nvPr/>
        </p:nvSpPr>
        <p:spPr>
          <a:xfrm>
            <a:off x="411480" y="6446520"/>
            <a:ext cx="11247120" cy="360"/>
          </a:xfrm>
          <a:prstGeom prst="line">
            <a:avLst/>
          </a:prstGeom>
          <a:ln w="12700">
            <a:solidFill>
              <a:srgbClr val="D6DC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7" name="PlaceHolder 1"/>
          <p:cNvSpPr>
            <a:spLocks noGrp="1"/>
          </p:cNvSpPr>
          <p:nvPr>
            <p:ph type="sldNum" idx="1"/>
          </p:nvPr>
        </p:nvSpPr>
        <p:spPr>
          <a:xfrm>
            <a:off x="11109960" y="6428160"/>
            <a:ext cx="456120" cy="200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800" b="0" u="none" strike="noStrike">
                <a:solidFill>
                  <a:srgbClr val="5E6B86"/>
                </a:solidFill>
                <a:effectLst/>
                <a:uFillTx/>
                <a:latin typeface="Malgun Gothic"/>
                <a:ea typeface="Malgun Gothic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EB581FA-153E-44BC-B2B5-D97019E28412}" type="slidenum">
              <a:rPr lang="en-US" sz="800" b="0" u="none" strike="noStrike">
                <a:solidFill>
                  <a:srgbClr val="5E6B86"/>
                </a:solidFill>
                <a:effectLst/>
                <a:uFillTx/>
                <a:latin typeface="Malgun Gothic"/>
                <a:ea typeface="Malgun Gothic"/>
              </a:rPr>
              <a:t>‹#›</a:t>
            </a:fld>
            <a:endParaRPr lang="en-US" sz="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ko-KR" sz="1800" b="0" u="none" strike="noStrike">
                <a:solidFill>
                  <a:schemeClr val="dk1"/>
                </a:solidFill>
                <a:effectLst/>
                <a:uFillTx/>
                <a:latin typeface="Malgun Gothic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ko-KR" sz="1800" b="0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제목 텍스트의 서식을 편집하려면 클릭하십시오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.</a:t>
            </a:r>
          </a:p>
        </p:txBody>
      </p:sp>
      <p:sp>
        <p:nvSpPr>
          <p:cNvPr id="9" name="PlaceHolder 3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3976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ko-KR" sz="3200" b="0" u="none" strike="noStrike">
                <a:solidFill>
                  <a:schemeClr val="dk1"/>
                </a:solidFill>
                <a:effectLst/>
                <a:uFillTx/>
                <a:latin typeface="Malgun Gothic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Malgun Gothic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Malgun Gothic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Malgun Gothic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Malgun Gothic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Malgun Gothic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Malgun Gothic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ko-KR" sz="3200" b="0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개요 텍스트의 서식을 편집하려면 클릭하십시오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Malgun Gothic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2</a:t>
            </a:r>
            <a:r>
              <a:rPr lang="ko-KR" sz="2400" b="0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번째 개요 수준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Malgun Gothic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3</a:t>
            </a:r>
            <a:r>
              <a:rPr lang="ko-KR" sz="2000" b="0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번째 개요 수준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Malgun Gothic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4</a:t>
            </a:r>
            <a:r>
              <a:rPr lang="ko-KR" sz="2000" b="0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번째 개요 수준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Malgun Gothic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5</a:t>
            </a:r>
            <a:r>
              <a:rPr lang="ko-KR" sz="2000" b="0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번째 개요 수준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Malgun Gothic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6</a:t>
            </a:r>
            <a:r>
              <a:rPr lang="ko-KR" sz="2000" b="0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번째 개요 수준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Malgun Gothic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7</a:t>
            </a:r>
            <a:r>
              <a:rPr lang="ko-KR" sz="2000" b="0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번째 개요 수준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Malgun Gothic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9B1220EB-95D7-47A2-9187-83A9CC5AEFCD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/>
          <p:cNvSpPr/>
          <p:nvPr/>
        </p:nvSpPr>
        <p:spPr>
          <a:xfrm>
            <a:off x="0" y="0"/>
            <a:ext cx="12190680" cy="163440"/>
          </a:xfrm>
          <a:prstGeom prst="rect">
            <a:avLst/>
          </a:prstGeom>
          <a:solidFill>
            <a:srgbClr val="183B72"/>
          </a:solidFill>
          <a:ln w="12700">
            <a:solidFill>
              <a:srgbClr val="183B72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11" name="Text 1"/>
          <p:cNvSpPr/>
          <p:nvPr/>
        </p:nvSpPr>
        <p:spPr>
          <a:xfrm>
            <a:off x="8229600" y="219600"/>
            <a:ext cx="3473640" cy="181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67286"/>
                </a:solidFill>
                <a:effectLst/>
                <a:uFillTx/>
                <a:latin typeface="Noto Sans CJK KR"/>
                <a:ea typeface="Noto Sans CJK KR"/>
              </a:rPr>
              <a:t>Project Week 3 · </a:t>
            </a:r>
            <a:r>
              <a:rPr lang="ko-KR" sz="1000" b="0" u="none" strike="noStrike">
                <a:solidFill>
                  <a:srgbClr val="667286"/>
                </a:solidFill>
                <a:effectLst/>
                <a:uFillTx/>
                <a:latin typeface="Noto Sans CJK KR"/>
                <a:ea typeface="Noto Sans CJK KR"/>
              </a:rPr>
              <a:t>한국어 독성 댓글 탐지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2" name="Shape 2"/>
          <p:cNvSpPr/>
          <p:nvPr/>
        </p:nvSpPr>
        <p:spPr>
          <a:xfrm>
            <a:off x="640080" y="6473880"/>
            <a:ext cx="10927080" cy="360"/>
          </a:xfrm>
          <a:prstGeom prst="line">
            <a:avLst/>
          </a:prstGeom>
          <a:ln w="12700">
            <a:solidFill>
              <a:srgbClr val="D7E1E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3" name="PlaceHolder 1"/>
          <p:cNvSpPr>
            <a:spLocks noGrp="1"/>
          </p:cNvSpPr>
          <p:nvPr>
            <p:ph type="sldNum" idx="2"/>
          </p:nvPr>
        </p:nvSpPr>
        <p:spPr>
          <a:xfrm>
            <a:off x="11430000" y="6492240"/>
            <a:ext cx="364680" cy="181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900" b="0" u="none" strike="noStrike">
                <a:solidFill>
                  <a:srgbClr val="7C8799"/>
                </a:solidFill>
                <a:effectLst/>
                <a:uFillTx/>
                <a:latin typeface="Noto Sans CJK KR"/>
                <a:ea typeface="Noto Sans CJK KR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EB964CFF-D281-4E91-A42C-8AD32C401824}" type="slidenum">
              <a:rPr lang="en-US" sz="900" b="0" u="none" strike="noStrike">
                <a:solidFill>
                  <a:srgbClr val="7C8799"/>
                </a:solidFill>
                <a:effectLst/>
                <a:uFillTx/>
                <a:latin typeface="Noto Sans CJK KR"/>
                <a:ea typeface="Noto Sans CJK KR"/>
              </a:rPr>
              <a:t>‹#›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0"/>
          <p:cNvSpPr/>
          <p:nvPr/>
        </p:nvSpPr>
        <p:spPr>
          <a:xfrm>
            <a:off x="9646920" y="228600"/>
            <a:ext cx="2010600" cy="200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000" b="0" u="none" strike="noStrike">
                <a:solidFill>
                  <a:srgbClr val="5E6B86"/>
                </a:solidFill>
                <a:effectLst/>
                <a:uFillTx/>
                <a:latin typeface="Malgun Gothic"/>
                <a:ea typeface="Malgun Gothic"/>
              </a:rPr>
              <a:t>인공지능개발 양성과정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1" name="Text 1"/>
          <p:cNvSpPr/>
          <p:nvPr/>
        </p:nvSpPr>
        <p:spPr>
          <a:xfrm>
            <a:off x="731520" y="1325880"/>
            <a:ext cx="5668200" cy="1050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2600" b="1" u="none" strike="noStrike">
                <a:solidFill>
                  <a:srgbClr val="1A1A1A"/>
                </a:solidFill>
                <a:effectLst/>
                <a:uFillTx/>
                <a:latin typeface="Malgun Gothic"/>
                <a:ea typeface="Malgun Gothic"/>
              </a:rPr>
              <a:t>한국어 독성 댓글 탐지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2600" b="1" u="none" strike="noStrike">
                <a:solidFill>
                  <a:srgbClr val="1A1A1A"/>
                </a:solidFill>
                <a:effectLst/>
                <a:uFillTx/>
                <a:latin typeface="Malgun Gothic"/>
                <a:ea typeface="Malgun Gothic"/>
              </a:rPr>
              <a:t>모델 개발 및 시각화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2" name="Shape 2"/>
          <p:cNvSpPr/>
          <p:nvPr/>
        </p:nvSpPr>
        <p:spPr>
          <a:xfrm>
            <a:off x="777240" y="2486880"/>
            <a:ext cx="2011680" cy="360"/>
          </a:xfrm>
          <a:prstGeom prst="line">
            <a:avLst/>
          </a:prstGeom>
          <a:ln w="12700">
            <a:solidFill>
              <a:srgbClr val="6FC7C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3" name="Shape 3"/>
          <p:cNvSpPr/>
          <p:nvPr/>
        </p:nvSpPr>
        <p:spPr>
          <a:xfrm>
            <a:off x="2788920" y="2486880"/>
            <a:ext cx="1188720" cy="360"/>
          </a:xfrm>
          <a:prstGeom prst="line">
            <a:avLst/>
          </a:prstGeom>
          <a:ln w="12700">
            <a:solidFill>
              <a:srgbClr val="F3C53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4" name="Text 4"/>
          <p:cNvSpPr/>
          <p:nvPr/>
        </p:nvSpPr>
        <p:spPr>
          <a:xfrm>
            <a:off x="777240" y="2697480"/>
            <a:ext cx="4936680" cy="547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46546E"/>
                </a:solidFill>
                <a:effectLst/>
                <a:uFillTx/>
                <a:latin typeface="Malgun Gothic"/>
                <a:ea typeface="Malgun Gothic"/>
              </a:rPr>
              <a:t>KOLD </a:t>
            </a:r>
            <a:r>
              <a:rPr lang="ko-KR" sz="1400" b="0" u="none" strike="noStrike">
                <a:solidFill>
                  <a:srgbClr val="46546E"/>
                </a:solidFill>
                <a:effectLst/>
                <a:uFillTx/>
                <a:latin typeface="Malgun Gothic"/>
                <a:ea typeface="Malgun Gothic"/>
              </a:rPr>
              <a:t>데이터셋과 </a:t>
            </a:r>
            <a:r>
              <a:rPr lang="en-US" sz="1400" b="0" u="none" strike="noStrike">
                <a:solidFill>
                  <a:srgbClr val="46546E"/>
                </a:solidFill>
                <a:effectLst/>
                <a:uFillTx/>
                <a:latin typeface="Malgun Gothic"/>
                <a:ea typeface="Malgun Gothic"/>
              </a:rPr>
              <a:t>KcELECTRA-small </a:t>
            </a:r>
            <a:r>
              <a:rPr lang="ko-KR" sz="1400" b="0" u="none" strike="noStrike">
                <a:solidFill>
                  <a:srgbClr val="46546E"/>
                </a:solidFill>
                <a:effectLst/>
                <a:uFillTx/>
                <a:latin typeface="Malgun Gothic"/>
                <a:ea typeface="Malgun Gothic"/>
              </a:rPr>
              <a:t>기반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46546E"/>
                </a:solidFill>
                <a:effectLst/>
                <a:uFillTx/>
                <a:latin typeface="Malgun Gothic"/>
                <a:ea typeface="Malgun Gothic"/>
              </a:rPr>
              <a:t>Streamlit Cloud </a:t>
            </a:r>
            <a:r>
              <a:rPr lang="ko-KR" sz="1400" b="0" u="none" strike="noStrike">
                <a:solidFill>
                  <a:srgbClr val="46546E"/>
                </a:solidFill>
                <a:effectLst/>
                <a:uFillTx/>
                <a:latin typeface="Malgun Gothic"/>
                <a:ea typeface="Malgun Gothic"/>
              </a:rPr>
              <a:t>서비스형 텍스트 분류 프로젝트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5" name="Text 5"/>
          <p:cNvSpPr/>
          <p:nvPr/>
        </p:nvSpPr>
        <p:spPr>
          <a:xfrm>
            <a:off x="777240" y="4114800"/>
            <a:ext cx="1742760" cy="227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300" b="1" u="none" strike="noStrike">
                <a:solidFill>
                  <a:srgbClr val="2F60D4"/>
                </a:solidFill>
                <a:effectLst/>
                <a:uFillTx/>
                <a:latin typeface="Malgun Gothic"/>
                <a:ea typeface="Malgun Gothic"/>
              </a:rPr>
              <a:t>딥러닝 산출물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6" name="Text 6"/>
          <p:cNvSpPr/>
          <p:nvPr/>
        </p:nvSpPr>
        <p:spPr>
          <a:xfrm>
            <a:off x="777240" y="4590360"/>
            <a:ext cx="1827720" cy="200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100" b="0" u="none" strike="noStrike">
                <a:solidFill>
                  <a:srgbClr val="444444"/>
                </a:solidFill>
                <a:effectLst/>
                <a:uFillTx/>
                <a:latin typeface="Malgun Gothic"/>
                <a:ea typeface="Malgun Gothic"/>
              </a:rPr>
              <a:t>작성자 </a:t>
            </a:r>
            <a:r>
              <a:rPr lang="en-US" sz="1100" b="0" u="none" strike="noStrike">
                <a:solidFill>
                  <a:srgbClr val="444444"/>
                </a:solidFill>
                <a:effectLst/>
                <a:uFillTx/>
                <a:latin typeface="Malgun Gothic"/>
                <a:ea typeface="Malgun Gothic"/>
              </a:rPr>
              <a:t>: </a:t>
            </a:r>
            <a:r>
              <a:rPr lang="ko-KR" sz="1100" b="0" u="none" strike="noStrike">
                <a:solidFill>
                  <a:srgbClr val="444444"/>
                </a:solidFill>
                <a:effectLst/>
                <a:uFillTx/>
                <a:latin typeface="Malgun Gothic"/>
                <a:ea typeface="Malgun Gothic"/>
              </a:rPr>
              <a:t>신재용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7" name="Text 7"/>
          <p:cNvSpPr/>
          <p:nvPr/>
        </p:nvSpPr>
        <p:spPr>
          <a:xfrm>
            <a:off x="777240" y="4892040"/>
            <a:ext cx="913320" cy="200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66666"/>
                </a:solidFill>
                <a:effectLst/>
                <a:uFillTx/>
                <a:latin typeface="Malgun Gothic"/>
                <a:ea typeface="Malgun Gothic"/>
              </a:rPr>
              <a:t>2026.04.07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8" name="Shape 8"/>
          <p:cNvSpPr/>
          <p:nvPr/>
        </p:nvSpPr>
        <p:spPr>
          <a:xfrm>
            <a:off x="7086600" y="1417320"/>
            <a:ext cx="1919160" cy="1919160"/>
          </a:xfrm>
          <a:prstGeom prst="ellipse">
            <a:avLst/>
          </a:prstGeom>
          <a:solidFill>
            <a:srgbClr val="EAF0FF"/>
          </a:solidFill>
          <a:ln w="12700">
            <a:solidFill>
              <a:srgbClr val="B3C4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9" name="Text 9"/>
          <p:cNvSpPr/>
          <p:nvPr/>
        </p:nvSpPr>
        <p:spPr>
          <a:xfrm>
            <a:off x="7388280" y="1892880"/>
            <a:ext cx="1315800" cy="693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2F60D4"/>
                </a:solidFill>
                <a:effectLst/>
                <a:uFillTx/>
                <a:latin typeface="Malgun Gothic"/>
                <a:ea typeface="Malgun Gothic"/>
              </a:rPr>
              <a:t>AI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2F60D4"/>
                </a:solidFill>
                <a:effectLst/>
                <a:uFillTx/>
                <a:latin typeface="Malgun Gothic"/>
                <a:ea typeface="Malgun Gothic"/>
              </a:rPr>
              <a:t>Project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0" name="Shape 10"/>
          <p:cNvSpPr/>
          <p:nvPr/>
        </p:nvSpPr>
        <p:spPr>
          <a:xfrm>
            <a:off x="6537960" y="1645920"/>
            <a:ext cx="456120" cy="4561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3A9E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1" name="Shape 11"/>
          <p:cNvSpPr/>
          <p:nvPr/>
        </p:nvSpPr>
        <p:spPr>
          <a:xfrm>
            <a:off x="9006840" y="1554480"/>
            <a:ext cx="456120" cy="4561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3A9E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2" name="Shape 12"/>
          <p:cNvSpPr/>
          <p:nvPr/>
        </p:nvSpPr>
        <p:spPr>
          <a:xfrm>
            <a:off x="9235440" y="2788920"/>
            <a:ext cx="456120" cy="4561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3A9E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3" name="Shape 13"/>
          <p:cNvSpPr/>
          <p:nvPr/>
        </p:nvSpPr>
        <p:spPr>
          <a:xfrm>
            <a:off x="6583680" y="2880360"/>
            <a:ext cx="456120" cy="4561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3A9E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4" name="Shape 14"/>
          <p:cNvSpPr/>
          <p:nvPr/>
        </p:nvSpPr>
        <p:spPr>
          <a:xfrm>
            <a:off x="8183880" y="868680"/>
            <a:ext cx="456120" cy="4561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3A9E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5" name="Shape 15"/>
          <p:cNvSpPr/>
          <p:nvPr/>
        </p:nvSpPr>
        <p:spPr>
          <a:xfrm flipV="1">
            <a:off x="6903720" y="1874520"/>
            <a:ext cx="411480" cy="137160"/>
          </a:xfrm>
          <a:prstGeom prst="line">
            <a:avLst/>
          </a:prstGeom>
          <a:ln w="12700">
            <a:solidFill>
              <a:srgbClr val="D7DE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6" name="Shape 16"/>
          <p:cNvSpPr/>
          <p:nvPr/>
        </p:nvSpPr>
        <p:spPr>
          <a:xfrm flipV="1">
            <a:off x="8641080" y="1828800"/>
            <a:ext cx="347400" cy="91440"/>
          </a:xfrm>
          <a:prstGeom prst="line">
            <a:avLst/>
          </a:prstGeom>
          <a:ln w="12700">
            <a:solidFill>
              <a:srgbClr val="D7DE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7" name="Shape 17"/>
          <p:cNvSpPr/>
          <p:nvPr/>
        </p:nvSpPr>
        <p:spPr>
          <a:xfrm flipV="1">
            <a:off x="8732520" y="2606040"/>
            <a:ext cx="255960" cy="274320"/>
          </a:xfrm>
          <a:prstGeom prst="line">
            <a:avLst/>
          </a:prstGeom>
          <a:ln w="12700">
            <a:solidFill>
              <a:srgbClr val="D7DE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8" name="Shape 18"/>
          <p:cNvSpPr/>
          <p:nvPr/>
        </p:nvSpPr>
        <p:spPr>
          <a:xfrm flipV="1">
            <a:off x="6903720" y="2651760"/>
            <a:ext cx="365760" cy="228600"/>
          </a:xfrm>
          <a:prstGeom prst="line">
            <a:avLst/>
          </a:prstGeom>
          <a:ln w="12700">
            <a:solidFill>
              <a:srgbClr val="D7DE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9" name="Shape 19"/>
          <p:cNvSpPr/>
          <p:nvPr/>
        </p:nvSpPr>
        <p:spPr>
          <a:xfrm>
            <a:off x="91440" y="5623560"/>
            <a:ext cx="1279080" cy="1279080"/>
          </a:xfrm>
          <a:prstGeom prst="ellipse">
            <a:avLst/>
          </a:prstGeom>
          <a:solidFill>
            <a:srgbClr val="2F60D4"/>
          </a:solidFill>
          <a:ln w="12700">
            <a:solidFill>
              <a:srgbClr val="2F60D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40" name="Shape 20"/>
          <p:cNvSpPr/>
          <p:nvPr/>
        </p:nvSpPr>
        <p:spPr>
          <a:xfrm>
            <a:off x="1234440" y="5486400"/>
            <a:ext cx="1461960" cy="1461960"/>
          </a:xfrm>
          <a:prstGeom prst="ellipse">
            <a:avLst/>
          </a:prstGeom>
          <a:solidFill>
            <a:srgbClr val="244AA8"/>
          </a:solidFill>
          <a:ln w="12700">
            <a:solidFill>
              <a:srgbClr val="244AA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41" name="Shape 21"/>
          <p:cNvSpPr/>
          <p:nvPr/>
        </p:nvSpPr>
        <p:spPr>
          <a:xfrm>
            <a:off x="2423160" y="5650920"/>
            <a:ext cx="1233360" cy="1233360"/>
          </a:xfrm>
          <a:prstGeom prst="ellipse">
            <a:avLst/>
          </a:prstGeom>
          <a:solidFill>
            <a:srgbClr val="2F60D4"/>
          </a:solidFill>
          <a:ln w="12700">
            <a:solidFill>
              <a:srgbClr val="2F60D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42" name="Shape 22"/>
          <p:cNvSpPr/>
          <p:nvPr/>
        </p:nvSpPr>
        <p:spPr>
          <a:xfrm>
            <a:off x="3566160" y="5440680"/>
            <a:ext cx="1553400" cy="1553400"/>
          </a:xfrm>
          <a:prstGeom prst="ellipse">
            <a:avLst/>
          </a:prstGeom>
          <a:solidFill>
            <a:srgbClr val="244AA8"/>
          </a:solidFill>
          <a:ln w="12700">
            <a:solidFill>
              <a:srgbClr val="244AA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43" name="Shape 23"/>
          <p:cNvSpPr/>
          <p:nvPr/>
        </p:nvSpPr>
        <p:spPr>
          <a:xfrm>
            <a:off x="4892040" y="5650920"/>
            <a:ext cx="1187640" cy="1187640"/>
          </a:xfrm>
          <a:prstGeom prst="ellipse">
            <a:avLst/>
          </a:prstGeom>
          <a:solidFill>
            <a:srgbClr val="2F60D4"/>
          </a:solidFill>
          <a:ln w="12700">
            <a:solidFill>
              <a:srgbClr val="2F60D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44" name="Shape 24"/>
          <p:cNvSpPr/>
          <p:nvPr/>
        </p:nvSpPr>
        <p:spPr>
          <a:xfrm>
            <a:off x="5989320" y="5468040"/>
            <a:ext cx="1553400" cy="1553400"/>
          </a:xfrm>
          <a:prstGeom prst="ellipse">
            <a:avLst/>
          </a:prstGeom>
          <a:solidFill>
            <a:srgbClr val="244AA8"/>
          </a:solidFill>
          <a:ln w="12700">
            <a:solidFill>
              <a:srgbClr val="244AA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45" name="Shape 25"/>
          <p:cNvSpPr/>
          <p:nvPr/>
        </p:nvSpPr>
        <p:spPr>
          <a:xfrm>
            <a:off x="7360920" y="5650920"/>
            <a:ext cx="1187640" cy="1187640"/>
          </a:xfrm>
          <a:prstGeom prst="ellipse">
            <a:avLst/>
          </a:prstGeom>
          <a:solidFill>
            <a:srgbClr val="2F60D4"/>
          </a:solidFill>
          <a:ln w="12700">
            <a:solidFill>
              <a:srgbClr val="2F60D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46" name="Shape 26"/>
          <p:cNvSpPr/>
          <p:nvPr/>
        </p:nvSpPr>
        <p:spPr>
          <a:xfrm>
            <a:off x="8458200" y="5486400"/>
            <a:ext cx="1416240" cy="1416240"/>
          </a:xfrm>
          <a:prstGeom prst="ellipse">
            <a:avLst/>
          </a:prstGeom>
          <a:solidFill>
            <a:srgbClr val="244AA8"/>
          </a:solidFill>
          <a:ln w="12700">
            <a:solidFill>
              <a:srgbClr val="244AA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47" name="Shape 27"/>
          <p:cNvSpPr/>
          <p:nvPr/>
        </p:nvSpPr>
        <p:spPr>
          <a:xfrm>
            <a:off x="9692640" y="5623560"/>
            <a:ext cx="1233360" cy="1233360"/>
          </a:xfrm>
          <a:prstGeom prst="ellipse">
            <a:avLst/>
          </a:prstGeom>
          <a:solidFill>
            <a:srgbClr val="2F60D4"/>
          </a:solidFill>
          <a:ln w="12700">
            <a:solidFill>
              <a:srgbClr val="2F60D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48" name="Shape 28"/>
          <p:cNvSpPr/>
          <p:nvPr/>
        </p:nvSpPr>
        <p:spPr>
          <a:xfrm>
            <a:off x="10744200" y="5532120"/>
            <a:ext cx="1141920" cy="1141920"/>
          </a:xfrm>
          <a:prstGeom prst="ellipse">
            <a:avLst/>
          </a:prstGeom>
          <a:solidFill>
            <a:srgbClr val="244AA8"/>
          </a:solidFill>
          <a:ln w="12700">
            <a:solidFill>
              <a:srgbClr val="244AA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Shape 0"/>
          <p:cNvSpPr/>
          <p:nvPr/>
        </p:nvSpPr>
        <p:spPr>
          <a:xfrm>
            <a:off x="0" y="0"/>
            <a:ext cx="2520000" cy="6856920"/>
          </a:xfrm>
          <a:prstGeom prst="rect">
            <a:avLst/>
          </a:prstGeom>
          <a:solidFill>
            <a:srgbClr val="2F60D4"/>
          </a:solidFill>
          <a:ln w="12700">
            <a:solidFill>
              <a:srgbClr val="2F60D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50" name="Text 1"/>
          <p:cNvSpPr/>
          <p:nvPr/>
        </p:nvSpPr>
        <p:spPr>
          <a:xfrm>
            <a:off x="685800" y="1325880"/>
            <a:ext cx="1370520" cy="410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2800" b="1" u="none" strike="noStrike">
                <a:solidFill>
                  <a:srgbClr val="FFFFFF"/>
                </a:solidFill>
                <a:effectLst/>
                <a:uFillTx/>
                <a:latin typeface="Malgun Gothic"/>
                <a:ea typeface="Malgun Gothic"/>
              </a:rPr>
              <a:t>목차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1" name="Text 2"/>
          <p:cNvSpPr/>
          <p:nvPr/>
        </p:nvSpPr>
        <p:spPr>
          <a:xfrm>
            <a:off x="713160" y="1847160"/>
            <a:ext cx="1370520" cy="227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DCE6FF"/>
                </a:solidFill>
                <a:effectLst/>
                <a:uFillTx/>
                <a:latin typeface="Malgun Gothic"/>
                <a:ea typeface="Malgun Gothic"/>
              </a:rPr>
              <a:t>CONTENTS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2" name="Shape 3"/>
          <p:cNvSpPr/>
          <p:nvPr/>
        </p:nvSpPr>
        <p:spPr>
          <a:xfrm>
            <a:off x="3372480" y="960120"/>
            <a:ext cx="410400" cy="383040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AAB7D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3" name="Text 4"/>
          <p:cNvSpPr/>
          <p:nvPr/>
        </p:nvSpPr>
        <p:spPr>
          <a:xfrm>
            <a:off x="3372480" y="1014840"/>
            <a:ext cx="410400" cy="181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F60D4"/>
                </a:solidFill>
                <a:effectLst/>
                <a:uFillTx/>
                <a:latin typeface="Malgun Gothic"/>
                <a:ea typeface="Malgun Gothic"/>
              </a:rPr>
              <a:t>01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4" name="Text 5"/>
          <p:cNvSpPr/>
          <p:nvPr/>
        </p:nvSpPr>
        <p:spPr>
          <a:xfrm>
            <a:off x="3966840" y="987480"/>
            <a:ext cx="3473640" cy="227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600" b="1" u="none" strike="noStrike">
                <a:solidFill>
                  <a:srgbClr val="23304D"/>
                </a:solidFill>
                <a:effectLst/>
                <a:uFillTx/>
                <a:latin typeface="Malgun Gothic"/>
                <a:ea typeface="Malgun Gothic"/>
              </a:rPr>
              <a:t>개요 및 현황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5" name="Shape 6"/>
          <p:cNvSpPr/>
          <p:nvPr/>
        </p:nvSpPr>
        <p:spPr>
          <a:xfrm>
            <a:off x="3966840" y="1316520"/>
            <a:ext cx="3125160" cy="360"/>
          </a:xfrm>
          <a:prstGeom prst="line">
            <a:avLst/>
          </a:prstGeom>
          <a:ln w="12700">
            <a:solidFill>
              <a:srgbClr val="D7DE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6" name="Shape 7"/>
          <p:cNvSpPr/>
          <p:nvPr/>
        </p:nvSpPr>
        <p:spPr>
          <a:xfrm>
            <a:off x="3372480" y="1673280"/>
            <a:ext cx="410400" cy="383040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AAB7D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7" name="Text 8"/>
          <p:cNvSpPr/>
          <p:nvPr/>
        </p:nvSpPr>
        <p:spPr>
          <a:xfrm>
            <a:off x="3372480" y="1728360"/>
            <a:ext cx="410400" cy="181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F60D4"/>
                </a:solidFill>
                <a:effectLst/>
                <a:uFillTx/>
                <a:latin typeface="Malgun Gothic"/>
                <a:ea typeface="Malgun Gothic"/>
              </a:rPr>
              <a:t>02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8" name="Text 9"/>
          <p:cNvSpPr/>
          <p:nvPr/>
        </p:nvSpPr>
        <p:spPr>
          <a:xfrm>
            <a:off x="3966840" y="1700640"/>
            <a:ext cx="3473640" cy="227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600" b="1" u="none" strike="noStrike">
                <a:solidFill>
                  <a:srgbClr val="23304D"/>
                </a:solidFill>
                <a:effectLst/>
                <a:uFillTx/>
                <a:latin typeface="Malgun Gothic"/>
                <a:ea typeface="Malgun Gothic"/>
              </a:rPr>
              <a:t>과제 범위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9" name="Shape 10"/>
          <p:cNvSpPr/>
          <p:nvPr/>
        </p:nvSpPr>
        <p:spPr>
          <a:xfrm>
            <a:off x="3966840" y="2029680"/>
            <a:ext cx="3125160" cy="360"/>
          </a:xfrm>
          <a:prstGeom prst="line">
            <a:avLst/>
          </a:prstGeom>
          <a:ln w="12700">
            <a:solidFill>
              <a:srgbClr val="D7DE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0" name="Shape 11"/>
          <p:cNvSpPr/>
          <p:nvPr/>
        </p:nvSpPr>
        <p:spPr>
          <a:xfrm>
            <a:off x="3372480" y="2386440"/>
            <a:ext cx="410400" cy="383040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AAB7D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1" name="Text 12"/>
          <p:cNvSpPr/>
          <p:nvPr/>
        </p:nvSpPr>
        <p:spPr>
          <a:xfrm>
            <a:off x="3372480" y="2441520"/>
            <a:ext cx="410400" cy="181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F60D4"/>
                </a:solidFill>
                <a:effectLst/>
                <a:uFillTx/>
                <a:latin typeface="Malgun Gothic"/>
                <a:ea typeface="Malgun Gothic"/>
              </a:rPr>
              <a:t>03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2" name="Text 13"/>
          <p:cNvSpPr/>
          <p:nvPr/>
        </p:nvSpPr>
        <p:spPr>
          <a:xfrm>
            <a:off x="3966840" y="2414160"/>
            <a:ext cx="3473640" cy="227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600" b="1" u="none" strike="noStrike">
                <a:solidFill>
                  <a:srgbClr val="23304D"/>
                </a:solidFill>
                <a:effectLst/>
                <a:uFillTx/>
                <a:latin typeface="Malgun Gothic"/>
                <a:ea typeface="Malgun Gothic"/>
              </a:rPr>
              <a:t>데이터셋 및 라벨링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3" name="Shape 14"/>
          <p:cNvSpPr/>
          <p:nvPr/>
        </p:nvSpPr>
        <p:spPr>
          <a:xfrm>
            <a:off x="3966840" y="2743200"/>
            <a:ext cx="3125160" cy="360"/>
          </a:xfrm>
          <a:prstGeom prst="line">
            <a:avLst/>
          </a:prstGeom>
          <a:ln w="12700">
            <a:solidFill>
              <a:srgbClr val="D7DE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4" name="Shape 15"/>
          <p:cNvSpPr/>
          <p:nvPr/>
        </p:nvSpPr>
        <p:spPr>
          <a:xfrm>
            <a:off x="3372480" y="3099960"/>
            <a:ext cx="410400" cy="383040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AAB7D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5" name="Text 16"/>
          <p:cNvSpPr/>
          <p:nvPr/>
        </p:nvSpPr>
        <p:spPr>
          <a:xfrm>
            <a:off x="3372480" y="3154680"/>
            <a:ext cx="410400" cy="181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F60D4"/>
                </a:solidFill>
                <a:effectLst/>
                <a:uFillTx/>
                <a:latin typeface="Malgun Gothic"/>
                <a:ea typeface="Malgun Gothic"/>
              </a:rPr>
              <a:t>04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6" name="Text 17"/>
          <p:cNvSpPr/>
          <p:nvPr/>
        </p:nvSpPr>
        <p:spPr>
          <a:xfrm>
            <a:off x="3966840" y="3127320"/>
            <a:ext cx="3473640" cy="227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600" b="1" u="none" strike="noStrike">
                <a:solidFill>
                  <a:srgbClr val="23304D"/>
                </a:solidFill>
                <a:effectLst/>
                <a:uFillTx/>
                <a:latin typeface="Malgun Gothic"/>
                <a:ea typeface="Malgun Gothic"/>
              </a:rPr>
              <a:t>모델 및 학습 전략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7" name="Shape 18"/>
          <p:cNvSpPr/>
          <p:nvPr/>
        </p:nvSpPr>
        <p:spPr>
          <a:xfrm>
            <a:off x="3966840" y="3456360"/>
            <a:ext cx="3125160" cy="360"/>
          </a:xfrm>
          <a:prstGeom prst="line">
            <a:avLst/>
          </a:prstGeom>
          <a:ln w="12700">
            <a:solidFill>
              <a:srgbClr val="D7DE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8" name="Shape 19"/>
          <p:cNvSpPr/>
          <p:nvPr/>
        </p:nvSpPr>
        <p:spPr>
          <a:xfrm>
            <a:off x="3372480" y="3813120"/>
            <a:ext cx="410400" cy="383040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AAB7D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9" name="Text 20"/>
          <p:cNvSpPr/>
          <p:nvPr/>
        </p:nvSpPr>
        <p:spPr>
          <a:xfrm>
            <a:off x="3372480" y="3867840"/>
            <a:ext cx="410400" cy="181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F60D4"/>
                </a:solidFill>
                <a:effectLst/>
                <a:uFillTx/>
                <a:latin typeface="Malgun Gothic"/>
                <a:ea typeface="Malgun Gothic"/>
              </a:rPr>
              <a:t>05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70" name="Text 21"/>
          <p:cNvSpPr/>
          <p:nvPr/>
        </p:nvSpPr>
        <p:spPr>
          <a:xfrm>
            <a:off x="3966840" y="3840480"/>
            <a:ext cx="3473640" cy="227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600" b="1" u="none" strike="noStrike">
                <a:solidFill>
                  <a:srgbClr val="23304D"/>
                </a:solidFill>
                <a:effectLst/>
                <a:uFillTx/>
                <a:latin typeface="Malgun Gothic"/>
                <a:ea typeface="Malgun Gothic"/>
              </a:rPr>
              <a:t>구현 구조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71" name="Shape 22"/>
          <p:cNvSpPr/>
          <p:nvPr/>
        </p:nvSpPr>
        <p:spPr>
          <a:xfrm>
            <a:off x="3966840" y="4169520"/>
            <a:ext cx="3125160" cy="360"/>
          </a:xfrm>
          <a:prstGeom prst="line">
            <a:avLst/>
          </a:prstGeom>
          <a:ln w="12700">
            <a:solidFill>
              <a:srgbClr val="D7DE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72" name="Shape 23"/>
          <p:cNvSpPr/>
          <p:nvPr/>
        </p:nvSpPr>
        <p:spPr>
          <a:xfrm>
            <a:off x="3372480" y="4526280"/>
            <a:ext cx="410400" cy="383040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AAB7D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73" name="Text 24"/>
          <p:cNvSpPr/>
          <p:nvPr/>
        </p:nvSpPr>
        <p:spPr>
          <a:xfrm>
            <a:off x="3372480" y="4581000"/>
            <a:ext cx="410400" cy="181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F60D4"/>
                </a:solidFill>
                <a:effectLst/>
                <a:uFillTx/>
                <a:latin typeface="Malgun Gothic"/>
                <a:ea typeface="Malgun Gothic"/>
              </a:rPr>
              <a:t>06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74" name="Text 25"/>
          <p:cNvSpPr/>
          <p:nvPr/>
        </p:nvSpPr>
        <p:spPr>
          <a:xfrm>
            <a:off x="3966840" y="4553640"/>
            <a:ext cx="3473640" cy="227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600" b="1" u="none" strike="noStrike">
                <a:solidFill>
                  <a:srgbClr val="23304D"/>
                </a:solidFill>
                <a:effectLst/>
                <a:uFillTx/>
                <a:latin typeface="Malgun Gothic"/>
                <a:ea typeface="Malgun Gothic"/>
              </a:rPr>
              <a:t>주요 결과물 </a:t>
            </a:r>
            <a:r>
              <a:rPr lang="en-US" sz="1600" b="1" u="none" strike="noStrike">
                <a:solidFill>
                  <a:srgbClr val="23304D"/>
                </a:solidFill>
                <a:effectLst/>
                <a:uFillTx/>
                <a:latin typeface="Malgun Gothic"/>
                <a:ea typeface="Malgun Gothic"/>
              </a:rPr>
              <a:t>- </a:t>
            </a:r>
            <a:r>
              <a:rPr lang="ko-KR" sz="1600" b="1" u="none" strike="noStrike">
                <a:solidFill>
                  <a:srgbClr val="23304D"/>
                </a:solidFill>
                <a:effectLst/>
                <a:uFillTx/>
                <a:latin typeface="Malgun Gothic"/>
                <a:ea typeface="Malgun Gothic"/>
              </a:rPr>
              <a:t>성능요약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75" name="Shape 26"/>
          <p:cNvSpPr/>
          <p:nvPr/>
        </p:nvSpPr>
        <p:spPr>
          <a:xfrm>
            <a:off x="3966840" y="4882680"/>
            <a:ext cx="3125160" cy="360"/>
          </a:xfrm>
          <a:prstGeom prst="line">
            <a:avLst/>
          </a:prstGeom>
          <a:ln w="12700">
            <a:solidFill>
              <a:srgbClr val="D7DE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76" name="Shape 27"/>
          <p:cNvSpPr/>
          <p:nvPr/>
        </p:nvSpPr>
        <p:spPr>
          <a:xfrm>
            <a:off x="3372480" y="5239440"/>
            <a:ext cx="410400" cy="383040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AAB7D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77" name="Text 28"/>
          <p:cNvSpPr/>
          <p:nvPr/>
        </p:nvSpPr>
        <p:spPr>
          <a:xfrm>
            <a:off x="3372480" y="5294520"/>
            <a:ext cx="410400" cy="181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F60D4"/>
                </a:solidFill>
                <a:effectLst/>
                <a:uFillTx/>
                <a:latin typeface="Malgun Gothic"/>
                <a:ea typeface="Malgun Gothic"/>
              </a:rPr>
              <a:t>07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78" name="Text 29"/>
          <p:cNvSpPr/>
          <p:nvPr/>
        </p:nvSpPr>
        <p:spPr>
          <a:xfrm>
            <a:off x="3966840" y="5266800"/>
            <a:ext cx="3473640" cy="227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600" b="1" u="none" strike="noStrike">
                <a:solidFill>
                  <a:srgbClr val="23304D"/>
                </a:solidFill>
                <a:effectLst/>
                <a:uFillTx/>
                <a:latin typeface="Malgun Gothic"/>
                <a:ea typeface="Malgun Gothic"/>
              </a:rPr>
              <a:t>주요 결과물 – 예측 패턴 시각화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79" name="Shape 30"/>
          <p:cNvSpPr/>
          <p:nvPr/>
        </p:nvSpPr>
        <p:spPr>
          <a:xfrm>
            <a:off x="3966840" y="5595840"/>
            <a:ext cx="3125160" cy="360"/>
          </a:xfrm>
          <a:prstGeom prst="line">
            <a:avLst/>
          </a:prstGeom>
          <a:ln w="12700">
            <a:solidFill>
              <a:srgbClr val="D7DE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80" name="PlaceHolder 1"/>
          <p:cNvSpPr>
            <a:spLocks noGrp="1"/>
          </p:cNvSpPr>
          <p:nvPr>
            <p:ph type="sldNum" idx="6"/>
          </p:nvPr>
        </p:nvSpPr>
        <p:spPr>
          <a:xfrm>
            <a:off x="11109960" y="6428160"/>
            <a:ext cx="456120" cy="200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800" b="0" u="none" strike="noStrike">
                <a:solidFill>
                  <a:srgbClr val="5E6B86"/>
                </a:solidFill>
                <a:effectLst/>
                <a:uFillTx/>
                <a:latin typeface="Malgun Gothic"/>
                <a:ea typeface="Malgun Gothic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DD47EF9B-FBF5-4272-9F9C-A7929CE62259}" type="slidenum">
              <a:rPr lang="en-US" sz="800" b="0" u="none" strike="noStrike">
                <a:solidFill>
                  <a:srgbClr val="5E6B86"/>
                </a:solidFill>
                <a:effectLst/>
                <a:uFillTx/>
                <a:latin typeface="Malgun Gothic"/>
                <a:ea typeface="Malgun Gothic"/>
              </a:rPr>
              <a:t>2</a:t>
            </a:fld>
            <a:endParaRPr lang="en-US" sz="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81" name="Shape 29"/>
          <p:cNvSpPr/>
          <p:nvPr/>
        </p:nvSpPr>
        <p:spPr>
          <a:xfrm>
            <a:off x="7596000" y="970200"/>
            <a:ext cx="410400" cy="383040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AAB7D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82" name="Text 22"/>
          <p:cNvSpPr/>
          <p:nvPr/>
        </p:nvSpPr>
        <p:spPr>
          <a:xfrm>
            <a:off x="7596000" y="1025280"/>
            <a:ext cx="410400" cy="181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F60D4"/>
                </a:solidFill>
                <a:effectLst/>
                <a:uFillTx/>
                <a:latin typeface="Malgun Gothic"/>
                <a:ea typeface="Malgun Gothic"/>
              </a:rPr>
              <a:t>08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83" name="Text 23"/>
          <p:cNvSpPr/>
          <p:nvPr/>
        </p:nvSpPr>
        <p:spPr>
          <a:xfrm>
            <a:off x="8046360" y="997920"/>
            <a:ext cx="3473640" cy="227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600" b="1" u="none" strike="noStrike">
                <a:solidFill>
                  <a:srgbClr val="23304D"/>
                </a:solidFill>
                <a:effectLst/>
                <a:uFillTx/>
                <a:latin typeface="Malgun Gothic"/>
                <a:ea typeface="Malgun Gothic"/>
              </a:rPr>
              <a:t>오분류 사례 및 한계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84" name="Shape 31"/>
          <p:cNvSpPr/>
          <p:nvPr/>
        </p:nvSpPr>
        <p:spPr>
          <a:xfrm>
            <a:off x="8190360" y="1326960"/>
            <a:ext cx="3293640" cy="360"/>
          </a:xfrm>
          <a:prstGeom prst="line">
            <a:avLst/>
          </a:prstGeom>
          <a:ln w="12700">
            <a:solidFill>
              <a:srgbClr val="D7DE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85" name="Shape 32"/>
          <p:cNvSpPr/>
          <p:nvPr/>
        </p:nvSpPr>
        <p:spPr>
          <a:xfrm>
            <a:off x="7596000" y="1683720"/>
            <a:ext cx="410400" cy="383040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AAB7D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86" name="Text 26"/>
          <p:cNvSpPr/>
          <p:nvPr/>
        </p:nvSpPr>
        <p:spPr>
          <a:xfrm>
            <a:off x="7596000" y="1738440"/>
            <a:ext cx="410400" cy="181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F60D4"/>
                </a:solidFill>
                <a:effectLst/>
                <a:uFillTx/>
                <a:latin typeface="Malgun Gothic"/>
                <a:ea typeface="Malgun Gothic"/>
              </a:rPr>
              <a:t>09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87" name="Text 27"/>
          <p:cNvSpPr/>
          <p:nvPr/>
        </p:nvSpPr>
        <p:spPr>
          <a:xfrm>
            <a:off x="8046360" y="1711080"/>
            <a:ext cx="3473640" cy="227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600" b="1" u="none" strike="noStrike">
                <a:solidFill>
                  <a:srgbClr val="23304D"/>
                </a:solidFill>
                <a:effectLst/>
                <a:uFillTx/>
                <a:latin typeface="Malgun Gothic"/>
                <a:ea typeface="Malgun Gothic"/>
              </a:rPr>
              <a:t>활용 방안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88" name="Shape 33"/>
          <p:cNvSpPr/>
          <p:nvPr/>
        </p:nvSpPr>
        <p:spPr>
          <a:xfrm>
            <a:off x="8190360" y="2040120"/>
            <a:ext cx="3293640" cy="360"/>
          </a:xfrm>
          <a:prstGeom prst="line">
            <a:avLst/>
          </a:prstGeom>
          <a:ln w="12700">
            <a:solidFill>
              <a:srgbClr val="D7DE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89" name="Shape 34"/>
          <p:cNvSpPr/>
          <p:nvPr/>
        </p:nvSpPr>
        <p:spPr>
          <a:xfrm>
            <a:off x="7596000" y="2396880"/>
            <a:ext cx="410400" cy="383040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AAB7D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90" name="Text 30"/>
          <p:cNvSpPr/>
          <p:nvPr/>
        </p:nvSpPr>
        <p:spPr>
          <a:xfrm>
            <a:off x="7596000" y="2451600"/>
            <a:ext cx="410400" cy="181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F60D4"/>
                </a:solidFill>
                <a:effectLst/>
                <a:uFillTx/>
                <a:latin typeface="Malgun Gothic"/>
                <a:ea typeface="Malgun Gothic"/>
              </a:rPr>
              <a:t>10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91" name="Text 31"/>
          <p:cNvSpPr/>
          <p:nvPr/>
        </p:nvSpPr>
        <p:spPr>
          <a:xfrm>
            <a:off x="8046360" y="2424240"/>
            <a:ext cx="3473640" cy="227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600" b="1" u="none" strike="noStrike">
                <a:solidFill>
                  <a:srgbClr val="23304D"/>
                </a:solidFill>
                <a:effectLst/>
                <a:uFillTx/>
                <a:latin typeface="Malgun Gothic"/>
                <a:ea typeface="Malgun Gothic"/>
              </a:rPr>
              <a:t>한계와 주의점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92" name="Shape 35"/>
          <p:cNvSpPr/>
          <p:nvPr/>
        </p:nvSpPr>
        <p:spPr>
          <a:xfrm>
            <a:off x="8190360" y="2753280"/>
            <a:ext cx="3293640" cy="360"/>
          </a:xfrm>
          <a:prstGeom prst="line">
            <a:avLst/>
          </a:prstGeom>
          <a:ln w="12700">
            <a:solidFill>
              <a:srgbClr val="D7DE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93" name="Shape 36"/>
          <p:cNvSpPr/>
          <p:nvPr/>
        </p:nvSpPr>
        <p:spPr>
          <a:xfrm>
            <a:off x="7596000" y="3110040"/>
            <a:ext cx="410400" cy="383040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AAB7D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94" name="Text 58"/>
          <p:cNvSpPr/>
          <p:nvPr/>
        </p:nvSpPr>
        <p:spPr>
          <a:xfrm>
            <a:off x="7596000" y="3164760"/>
            <a:ext cx="410400" cy="181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F60D4"/>
                </a:solidFill>
                <a:effectLst/>
                <a:uFillTx/>
                <a:latin typeface="Malgun Gothic"/>
                <a:ea typeface="Malgun Gothic"/>
              </a:rPr>
              <a:t>11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95" name="Text 59"/>
          <p:cNvSpPr/>
          <p:nvPr/>
        </p:nvSpPr>
        <p:spPr>
          <a:xfrm>
            <a:off x="8046360" y="3137400"/>
            <a:ext cx="3473640" cy="227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600" b="1" u="none" strike="noStrike">
                <a:solidFill>
                  <a:srgbClr val="23304D"/>
                </a:solidFill>
                <a:effectLst/>
                <a:uFillTx/>
                <a:latin typeface="Malgun Gothic"/>
                <a:ea typeface="Malgun Gothic"/>
              </a:rPr>
              <a:t>향후 발전 방향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96" name="Shape 37"/>
          <p:cNvSpPr/>
          <p:nvPr/>
        </p:nvSpPr>
        <p:spPr>
          <a:xfrm>
            <a:off x="8190360" y="3466440"/>
            <a:ext cx="3293640" cy="360"/>
          </a:xfrm>
          <a:prstGeom prst="line">
            <a:avLst/>
          </a:prstGeom>
          <a:ln w="12700">
            <a:solidFill>
              <a:srgbClr val="D7DE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Text 0"/>
          <p:cNvSpPr/>
          <p:nvPr/>
        </p:nvSpPr>
        <p:spPr>
          <a:xfrm>
            <a:off x="502920" y="640080"/>
            <a:ext cx="5119560" cy="410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1A1A1A"/>
                </a:solidFill>
                <a:effectLst/>
                <a:uFillTx/>
                <a:latin typeface="Malgun Gothic"/>
                <a:ea typeface="Malgun Gothic"/>
              </a:rPr>
              <a:t>1. </a:t>
            </a:r>
            <a:r>
              <a:rPr lang="ko-KR" sz="2200" b="1" u="none" strike="noStrike">
                <a:solidFill>
                  <a:srgbClr val="1A1A1A"/>
                </a:solidFill>
                <a:effectLst/>
                <a:uFillTx/>
                <a:latin typeface="Malgun Gothic"/>
                <a:ea typeface="Malgun Gothic"/>
              </a:rPr>
              <a:t>개요 및 현황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50" name="Shape 1"/>
          <p:cNvSpPr/>
          <p:nvPr/>
        </p:nvSpPr>
        <p:spPr>
          <a:xfrm>
            <a:off x="594360" y="1234440"/>
            <a:ext cx="3656520" cy="196488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7DEEA"/>
            </a:solidFill>
            <a:round/>
          </a:ln>
          <a:effectLst>
            <a:outerShdw blurRad="25560" dist="12218" dir="27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51" name="Shape 2"/>
          <p:cNvSpPr/>
          <p:nvPr/>
        </p:nvSpPr>
        <p:spPr>
          <a:xfrm>
            <a:off x="731520" y="1398960"/>
            <a:ext cx="108720" cy="291600"/>
          </a:xfrm>
          <a:prstGeom prst="roundRect">
            <a:avLst>
              <a:gd name="adj" fmla="val 33333"/>
            </a:avLst>
          </a:prstGeom>
          <a:solidFill>
            <a:srgbClr val="2F60D4"/>
          </a:solidFill>
          <a:ln w="12700">
            <a:solidFill>
              <a:srgbClr val="2F60D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4360" tIns="45000" rIns="5436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152" name="Text 3"/>
          <p:cNvSpPr/>
          <p:nvPr/>
        </p:nvSpPr>
        <p:spPr>
          <a:xfrm>
            <a:off x="887040" y="1362600"/>
            <a:ext cx="3245040" cy="254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600" b="1" u="none" strike="noStrike">
                <a:solidFill>
                  <a:srgbClr val="1F2B4D"/>
                </a:solidFill>
                <a:effectLst/>
                <a:uFillTx/>
                <a:latin typeface="Malgun Gothic"/>
                <a:ea typeface="Malgun Gothic"/>
              </a:rPr>
              <a:t>프로젝트 배경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53" name="Text 4"/>
          <p:cNvSpPr/>
          <p:nvPr/>
        </p:nvSpPr>
        <p:spPr>
          <a:xfrm>
            <a:off x="850320" y="1710000"/>
            <a:ext cx="3290760" cy="1397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Autofit/>
          </a:bodyPr>
          <a:lstStyle/>
          <a:p>
            <a:pPr marL="177840" indent="-177840" defTabSz="914400">
              <a:lnSpc>
                <a:spcPct val="100000"/>
              </a:lnSpc>
              <a:buClr>
                <a:srgbClr val="333333"/>
              </a:buClr>
              <a:buFont typeface="Symbol" charset="2"/>
              <a:buChar char=""/>
            </a:pPr>
            <a:r>
              <a:rPr lang="ko-KR" sz="1150" b="0" u="none" strike="noStrike">
                <a:solidFill>
                  <a:srgbClr val="333333"/>
                </a:solidFill>
                <a:effectLst/>
                <a:uFillTx/>
                <a:latin typeface="Malgun Gothic"/>
                <a:ea typeface="Malgun Gothic"/>
              </a:rPr>
              <a:t>실시간 온라인 환경에서는 공격적</a:t>
            </a:r>
            <a:r>
              <a:rPr lang="en-US" sz="1150" b="0" u="none" strike="noStrike">
                <a:solidFill>
                  <a:srgbClr val="333333"/>
                </a:solidFill>
                <a:effectLst/>
                <a:uFillTx/>
                <a:latin typeface="Malgun Gothic"/>
                <a:ea typeface="Malgun Gothic"/>
              </a:rPr>
              <a:t>·</a:t>
            </a:r>
            <a:r>
              <a:rPr lang="ko-KR" sz="1150" b="0" u="none" strike="noStrike">
                <a:solidFill>
                  <a:srgbClr val="333333"/>
                </a:solidFill>
                <a:effectLst/>
                <a:uFillTx/>
                <a:latin typeface="Malgun Gothic"/>
                <a:ea typeface="Malgun Gothic"/>
              </a:rPr>
              <a:t>비하적 댓글이 이용자 경험과 소통 품질을 저하시킬 수 있음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333333"/>
              </a:buClr>
              <a:buFont typeface="Symbol" charset="2"/>
              <a:buChar char=""/>
            </a:pPr>
            <a:r>
              <a:rPr lang="ko-KR" sz="1150" b="0" u="none" strike="noStrike">
                <a:solidFill>
                  <a:srgbClr val="333333"/>
                </a:solidFill>
                <a:effectLst/>
                <a:uFillTx/>
                <a:latin typeface="Malgun Gothic"/>
                <a:ea typeface="Malgun Gothic"/>
              </a:rPr>
              <a:t>명시적 욕설뿐 아니라 암시적 공격 표현까지 감지 가능한 한국어 텍스트 분류 모델이 필요함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54" name="Shape 5"/>
          <p:cNvSpPr/>
          <p:nvPr/>
        </p:nvSpPr>
        <p:spPr>
          <a:xfrm>
            <a:off x="594360" y="3429000"/>
            <a:ext cx="3656520" cy="191916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7DEEA"/>
            </a:solidFill>
            <a:round/>
          </a:ln>
          <a:effectLst>
            <a:outerShdw blurRad="25560" dist="12218" dir="27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55" name="Shape 6"/>
          <p:cNvSpPr/>
          <p:nvPr/>
        </p:nvSpPr>
        <p:spPr>
          <a:xfrm>
            <a:off x="731520" y="3593520"/>
            <a:ext cx="108720" cy="291600"/>
          </a:xfrm>
          <a:prstGeom prst="roundRect">
            <a:avLst>
              <a:gd name="adj" fmla="val 33333"/>
            </a:avLst>
          </a:prstGeom>
          <a:solidFill>
            <a:srgbClr val="2F60D4"/>
          </a:solidFill>
          <a:ln w="12700">
            <a:solidFill>
              <a:srgbClr val="2F60D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4360" tIns="45000" rIns="5436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156" name="Text 7"/>
          <p:cNvSpPr/>
          <p:nvPr/>
        </p:nvSpPr>
        <p:spPr>
          <a:xfrm>
            <a:off x="887040" y="3557160"/>
            <a:ext cx="3245040" cy="254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600" b="1" u="none" strike="noStrike">
                <a:solidFill>
                  <a:srgbClr val="1F2B4D"/>
                </a:solidFill>
                <a:effectLst/>
                <a:uFillTx/>
                <a:latin typeface="Malgun Gothic"/>
                <a:ea typeface="Malgun Gothic"/>
              </a:rPr>
              <a:t>프로젝트 목표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57" name="Text 8"/>
          <p:cNvSpPr/>
          <p:nvPr/>
        </p:nvSpPr>
        <p:spPr>
          <a:xfrm>
            <a:off x="850320" y="3904560"/>
            <a:ext cx="3290760" cy="1352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Autofit/>
          </a:bodyPr>
          <a:lstStyle/>
          <a:p>
            <a:pPr marL="177840" indent="-177840" defTabSz="914400">
              <a:lnSpc>
                <a:spcPct val="100000"/>
              </a:lnSpc>
              <a:buClr>
                <a:srgbClr val="333333"/>
              </a:buClr>
              <a:buFont typeface="Symbol" charset="2"/>
              <a:buChar char=""/>
            </a:pPr>
            <a:r>
              <a:rPr lang="ko-KR" sz="1150" b="0" u="none" strike="noStrike">
                <a:solidFill>
                  <a:srgbClr val="333333"/>
                </a:solidFill>
                <a:effectLst/>
                <a:uFillTx/>
                <a:latin typeface="Malgun Gothic"/>
                <a:ea typeface="Malgun Gothic"/>
              </a:rPr>
              <a:t>한국어 댓글을 </a:t>
            </a:r>
            <a:r>
              <a:rPr lang="en-US" sz="1150" b="0" u="none" strike="noStrike">
                <a:solidFill>
                  <a:srgbClr val="333333"/>
                </a:solidFill>
                <a:effectLst/>
                <a:uFillTx/>
                <a:latin typeface="Malgun Gothic"/>
                <a:ea typeface="Malgun Gothic"/>
              </a:rPr>
              <a:t>normal / toxic</a:t>
            </a:r>
            <a:r>
              <a:rPr lang="ko-KR" sz="1150" b="0" u="none" strike="noStrike">
                <a:solidFill>
                  <a:srgbClr val="333333"/>
                </a:solidFill>
                <a:effectLst/>
                <a:uFillTx/>
                <a:latin typeface="Malgun Gothic"/>
                <a:ea typeface="Malgun Gothic"/>
              </a:rPr>
              <a:t>으로 이진 분류하는 딥러닝 모델 구축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333333"/>
              </a:buClr>
              <a:buFont typeface="Symbol" charset="2"/>
              <a:buChar char=""/>
            </a:pPr>
            <a:r>
              <a:rPr lang="ko-KR" sz="1150" b="0" u="none" strike="noStrike">
                <a:solidFill>
                  <a:srgbClr val="333333"/>
                </a:solidFill>
                <a:effectLst/>
                <a:uFillTx/>
                <a:latin typeface="Malgun Gothic"/>
                <a:ea typeface="Malgun Gothic"/>
              </a:rPr>
              <a:t>평가 지표와 시각화 결과를 포함한 </a:t>
            </a:r>
            <a:r>
              <a:rPr lang="en-US" sz="1150" b="0" u="none" strike="noStrike">
                <a:solidFill>
                  <a:srgbClr val="333333"/>
                </a:solidFill>
                <a:effectLst/>
                <a:uFillTx/>
                <a:latin typeface="Malgun Gothic"/>
                <a:ea typeface="Malgun Gothic"/>
              </a:rPr>
              <a:t>Streamlit Cloud </a:t>
            </a:r>
            <a:r>
              <a:rPr lang="ko-KR" sz="1150" b="0" u="none" strike="noStrike">
                <a:solidFill>
                  <a:srgbClr val="333333"/>
                </a:solidFill>
                <a:effectLst/>
                <a:uFillTx/>
                <a:latin typeface="Malgun Gothic"/>
                <a:ea typeface="Malgun Gothic"/>
              </a:rPr>
              <a:t>서비스형 시연 화면 구현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58" name="Shape 9"/>
          <p:cNvSpPr/>
          <p:nvPr/>
        </p:nvSpPr>
        <p:spPr>
          <a:xfrm>
            <a:off x="4526280" y="1234440"/>
            <a:ext cx="7039800" cy="411372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 w="12700">
            <a:solidFill>
              <a:srgbClr val="D7DEEA"/>
            </a:solidFill>
            <a:round/>
          </a:ln>
          <a:effectLst>
            <a:outerShdw blurRad="25560" dist="12218" dir="27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59" name="Shape 10"/>
          <p:cNvSpPr/>
          <p:nvPr/>
        </p:nvSpPr>
        <p:spPr>
          <a:xfrm>
            <a:off x="4663440" y="1398960"/>
            <a:ext cx="108720" cy="291600"/>
          </a:xfrm>
          <a:prstGeom prst="roundRect">
            <a:avLst>
              <a:gd name="adj" fmla="val 33333"/>
            </a:avLst>
          </a:prstGeom>
          <a:solidFill>
            <a:srgbClr val="6FC7C5"/>
          </a:solidFill>
          <a:ln w="12700">
            <a:solidFill>
              <a:srgbClr val="6FC7C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4360" tIns="45000" rIns="5436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60" name="Text 11"/>
          <p:cNvSpPr/>
          <p:nvPr/>
        </p:nvSpPr>
        <p:spPr>
          <a:xfrm>
            <a:off x="4818960" y="1362600"/>
            <a:ext cx="6628320" cy="254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600" b="1" u="none" strike="noStrike">
                <a:solidFill>
                  <a:srgbClr val="1F2B4D"/>
                </a:solidFill>
                <a:effectLst/>
                <a:uFillTx/>
                <a:latin typeface="Malgun Gothic"/>
                <a:ea typeface="Malgun Gothic"/>
              </a:rPr>
              <a:t>기대 효과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61" name="Text 12"/>
          <p:cNvSpPr/>
          <p:nvPr/>
        </p:nvSpPr>
        <p:spPr>
          <a:xfrm>
            <a:off x="4782240" y="1710000"/>
            <a:ext cx="6674040" cy="3546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Autofit/>
          </a:bodyPr>
          <a:lstStyle/>
          <a:p>
            <a:pPr marL="177840" indent="-177840" defTabSz="914400">
              <a:lnSpc>
                <a:spcPct val="100000"/>
              </a:lnSpc>
              <a:buClr>
                <a:srgbClr val="333333"/>
              </a:buClr>
              <a:buFont typeface="Symbol" charset="2"/>
              <a:buChar char=""/>
            </a:pPr>
            <a:r>
              <a:rPr lang="ko-KR" sz="1150" b="0" u="none" strike="noStrike">
                <a:solidFill>
                  <a:srgbClr val="333333"/>
                </a:solidFill>
                <a:effectLst/>
                <a:uFillTx/>
                <a:latin typeface="Malgun Gothic"/>
                <a:ea typeface="Malgun Gothic"/>
              </a:rPr>
              <a:t>실시간 라이브 스트리밍</a:t>
            </a:r>
            <a:r>
              <a:rPr lang="en-US" sz="1150" b="0" u="none" strike="noStrike">
                <a:solidFill>
                  <a:srgbClr val="333333"/>
                </a:solidFill>
                <a:effectLst/>
                <a:uFillTx/>
                <a:latin typeface="Malgun Gothic"/>
                <a:ea typeface="Malgun Gothic"/>
              </a:rPr>
              <a:t>·</a:t>
            </a:r>
            <a:r>
              <a:rPr lang="ko-KR" sz="1150" b="0" u="none" strike="noStrike">
                <a:solidFill>
                  <a:srgbClr val="333333"/>
                </a:solidFill>
                <a:effectLst/>
                <a:uFillTx/>
                <a:latin typeface="Malgun Gothic"/>
                <a:ea typeface="Malgun Gothic"/>
              </a:rPr>
              <a:t>커뮤니티</a:t>
            </a:r>
            <a:r>
              <a:rPr lang="en-US" sz="1150" b="0" u="none" strike="noStrike">
                <a:solidFill>
                  <a:srgbClr val="333333"/>
                </a:solidFill>
                <a:effectLst/>
                <a:uFillTx/>
                <a:latin typeface="Malgun Gothic"/>
                <a:ea typeface="Malgun Gothic"/>
              </a:rPr>
              <a:t>·</a:t>
            </a:r>
            <a:r>
              <a:rPr lang="ko-KR" sz="1150" b="0" u="none" strike="noStrike">
                <a:solidFill>
                  <a:srgbClr val="333333"/>
                </a:solidFill>
                <a:effectLst/>
                <a:uFillTx/>
                <a:latin typeface="Malgun Gothic"/>
                <a:ea typeface="Malgun Gothic"/>
              </a:rPr>
              <a:t>댓글 서비스에서 독성 채팅 사전 차단 보조 도구로 활용 가능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333333"/>
              </a:buClr>
              <a:buFont typeface="Symbol" charset="2"/>
              <a:buChar char=""/>
            </a:pPr>
            <a:r>
              <a:rPr lang="ko-KR" sz="1150" b="0" u="none" strike="noStrike">
                <a:solidFill>
                  <a:srgbClr val="333333"/>
                </a:solidFill>
                <a:effectLst/>
                <a:uFillTx/>
                <a:latin typeface="Malgun Gothic"/>
                <a:ea typeface="Malgun Gothic"/>
              </a:rPr>
              <a:t>정량 평가와 오분류 사례 분석을 통해 실제 운영 전 개선 방향 도출 가능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333333"/>
              </a:buClr>
              <a:buFont typeface="Symbol" charset="2"/>
              <a:buChar char=""/>
            </a:pPr>
            <a:r>
              <a:rPr lang="ko-KR" sz="1150" b="0" u="none" strike="noStrike">
                <a:solidFill>
                  <a:srgbClr val="333333"/>
                </a:solidFill>
                <a:effectLst/>
                <a:uFillTx/>
                <a:latin typeface="Malgun Gothic"/>
                <a:ea typeface="Malgun Gothic"/>
              </a:rPr>
              <a:t>필터 정책을 서비스별로 조정할 수 있는 기반 모델로 확장 가능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62" name="PlaceHolder 1"/>
          <p:cNvSpPr>
            <a:spLocks noGrp="1"/>
          </p:cNvSpPr>
          <p:nvPr>
            <p:ph type="sldNum" idx="8"/>
          </p:nvPr>
        </p:nvSpPr>
        <p:spPr>
          <a:xfrm>
            <a:off x="11109960" y="6428160"/>
            <a:ext cx="456120" cy="200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800" b="0" u="none" strike="noStrike">
                <a:solidFill>
                  <a:srgbClr val="5E6B86"/>
                </a:solidFill>
                <a:effectLst/>
                <a:uFillTx/>
                <a:latin typeface="Malgun Gothic"/>
                <a:ea typeface="Malgun Gothic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B0858E98-8EED-483B-8DC4-9C1200433481}" type="slidenum">
              <a:rPr lang="en-US" sz="800" b="0" u="none" strike="noStrike">
                <a:solidFill>
                  <a:srgbClr val="5E6B86"/>
                </a:solidFill>
                <a:effectLst/>
                <a:uFillTx/>
                <a:latin typeface="Malgun Gothic"/>
                <a:ea typeface="Malgun Gothic"/>
              </a:rPr>
              <a:t>3</a:t>
            </a:fld>
            <a:endParaRPr lang="en-US" sz="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Text 0"/>
          <p:cNvSpPr/>
          <p:nvPr/>
        </p:nvSpPr>
        <p:spPr>
          <a:xfrm>
            <a:off x="502920" y="640080"/>
            <a:ext cx="5119560" cy="410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1A1A1A"/>
                </a:solidFill>
                <a:effectLst/>
                <a:uFillTx/>
                <a:latin typeface="Malgun Gothic"/>
                <a:ea typeface="Malgun Gothic"/>
              </a:rPr>
              <a:t>2. </a:t>
            </a:r>
            <a:r>
              <a:rPr lang="ko-KR" sz="2200" b="1" u="none" strike="noStrike">
                <a:solidFill>
                  <a:srgbClr val="1A1A1A"/>
                </a:solidFill>
                <a:effectLst/>
                <a:uFillTx/>
                <a:latin typeface="Malgun Gothic"/>
                <a:ea typeface="Malgun Gothic"/>
              </a:rPr>
              <a:t>과제 범위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64" name="Shape 1"/>
          <p:cNvSpPr/>
          <p:nvPr/>
        </p:nvSpPr>
        <p:spPr>
          <a:xfrm>
            <a:off x="640080" y="1280160"/>
            <a:ext cx="10971720" cy="4479480"/>
          </a:xfrm>
          <a:prstGeom prst="roundRect">
            <a:avLst>
              <a:gd name="adj" fmla="val 1020"/>
            </a:avLst>
          </a:prstGeom>
          <a:solidFill>
            <a:srgbClr val="FFFFFF"/>
          </a:solidFill>
          <a:ln w="12700">
            <a:solidFill>
              <a:srgbClr val="CBD4E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65" name="Shape 2"/>
          <p:cNvSpPr/>
          <p:nvPr/>
        </p:nvSpPr>
        <p:spPr>
          <a:xfrm>
            <a:off x="868680" y="1554480"/>
            <a:ext cx="1050480" cy="437760"/>
          </a:xfrm>
          <a:prstGeom prst="rect">
            <a:avLst/>
          </a:prstGeom>
          <a:solidFill>
            <a:srgbClr val="EAF0FF"/>
          </a:solidFill>
          <a:ln w="12700">
            <a:solidFill>
              <a:srgbClr val="AFC0E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66" name="Text 3"/>
          <p:cNvSpPr/>
          <p:nvPr/>
        </p:nvSpPr>
        <p:spPr>
          <a:xfrm>
            <a:off x="868680" y="1654920"/>
            <a:ext cx="1050480" cy="181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300" b="1" u="none" strike="noStrike">
                <a:solidFill>
                  <a:srgbClr val="23304D"/>
                </a:solidFill>
                <a:effectLst/>
                <a:uFillTx/>
                <a:latin typeface="Malgun Gothic"/>
                <a:ea typeface="Malgun Gothic"/>
              </a:rPr>
              <a:t>과제구분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67" name="Shape 4"/>
          <p:cNvSpPr/>
          <p:nvPr/>
        </p:nvSpPr>
        <p:spPr>
          <a:xfrm>
            <a:off x="1920240" y="1554480"/>
            <a:ext cx="2742120" cy="437760"/>
          </a:xfrm>
          <a:prstGeom prst="rect">
            <a:avLst/>
          </a:prstGeom>
          <a:solidFill>
            <a:srgbClr val="EAF0FF"/>
          </a:solidFill>
          <a:ln w="12700">
            <a:solidFill>
              <a:srgbClr val="AFC0E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68" name="Text 5"/>
          <p:cNvSpPr/>
          <p:nvPr/>
        </p:nvSpPr>
        <p:spPr>
          <a:xfrm>
            <a:off x="1920240" y="1654920"/>
            <a:ext cx="2742120" cy="181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300" b="1" u="none" strike="noStrike">
                <a:solidFill>
                  <a:srgbClr val="23304D"/>
                </a:solidFill>
                <a:effectLst/>
                <a:uFillTx/>
                <a:latin typeface="Malgun Gothic"/>
                <a:ea typeface="Malgun Gothic"/>
              </a:rPr>
              <a:t>세부 구분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69" name="Shape 6"/>
          <p:cNvSpPr/>
          <p:nvPr/>
        </p:nvSpPr>
        <p:spPr>
          <a:xfrm>
            <a:off x="4663440" y="1554480"/>
            <a:ext cx="6582600" cy="437760"/>
          </a:xfrm>
          <a:prstGeom prst="rect">
            <a:avLst/>
          </a:prstGeom>
          <a:solidFill>
            <a:srgbClr val="EAF0FF"/>
          </a:solidFill>
          <a:ln w="12700">
            <a:solidFill>
              <a:srgbClr val="AFC0E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70" name="Text 7"/>
          <p:cNvSpPr/>
          <p:nvPr/>
        </p:nvSpPr>
        <p:spPr>
          <a:xfrm>
            <a:off x="4663440" y="1654920"/>
            <a:ext cx="6582600" cy="181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300" b="1" u="none" strike="noStrike">
                <a:solidFill>
                  <a:srgbClr val="23304D"/>
                </a:solidFill>
                <a:effectLst/>
                <a:uFillTx/>
                <a:latin typeface="Malgun Gothic"/>
                <a:ea typeface="Malgun Gothic"/>
              </a:rPr>
              <a:t>내용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71" name="Shape 8"/>
          <p:cNvSpPr/>
          <p:nvPr/>
        </p:nvSpPr>
        <p:spPr>
          <a:xfrm>
            <a:off x="868680" y="1993320"/>
            <a:ext cx="1050480" cy="187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AFC0E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72" name="Text 9"/>
          <p:cNvSpPr/>
          <p:nvPr/>
        </p:nvSpPr>
        <p:spPr>
          <a:xfrm>
            <a:off x="868680" y="2688480"/>
            <a:ext cx="1050480" cy="273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F60D4"/>
                </a:solidFill>
                <a:effectLst/>
                <a:uFillTx/>
                <a:latin typeface="Malgun Gothic"/>
                <a:ea typeface="Malgun Gothic"/>
              </a:rPr>
              <a:t>AI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73" name="Shape 10"/>
          <p:cNvSpPr/>
          <p:nvPr/>
        </p:nvSpPr>
        <p:spPr>
          <a:xfrm>
            <a:off x="1920240" y="1993320"/>
            <a:ext cx="2742120" cy="187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AFC0E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74" name="Text 11"/>
          <p:cNvSpPr/>
          <p:nvPr/>
        </p:nvSpPr>
        <p:spPr>
          <a:xfrm>
            <a:off x="2011680" y="2221920"/>
            <a:ext cx="2559240" cy="1507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300" b="1" u="none" strike="noStrike">
                <a:solidFill>
                  <a:srgbClr val="23304D"/>
                </a:solidFill>
                <a:effectLst/>
                <a:uFillTx/>
                <a:latin typeface="Malgun Gothic"/>
                <a:ea typeface="Malgun Gothic"/>
              </a:rPr>
              <a:t>독성 댓글 분류 모델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75" name="Shape 12"/>
          <p:cNvSpPr/>
          <p:nvPr/>
        </p:nvSpPr>
        <p:spPr>
          <a:xfrm>
            <a:off x="4663440" y="1993320"/>
            <a:ext cx="6582600" cy="187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AFC0E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76" name="Text 13"/>
          <p:cNvSpPr/>
          <p:nvPr/>
        </p:nvSpPr>
        <p:spPr>
          <a:xfrm>
            <a:off x="4773240" y="2139840"/>
            <a:ext cx="6363000" cy="1599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200" b="0" u="none" strike="noStrike">
                <a:solidFill>
                  <a:srgbClr val="333333"/>
                </a:solidFill>
                <a:effectLst/>
                <a:uFillTx/>
                <a:latin typeface="Malgun Gothic"/>
                <a:ea typeface="Malgun Gothic"/>
              </a:rPr>
              <a:t>원시 댓글 데이터 로드 및 이진 라벨링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200" b="0" u="none" strike="noStrike">
                <a:solidFill>
                  <a:srgbClr val="333333"/>
                </a:solidFill>
                <a:effectLst/>
                <a:uFillTx/>
                <a:latin typeface="Malgun Gothic"/>
                <a:ea typeface="Malgun Gothic"/>
              </a:rPr>
              <a:t>한국어 </a:t>
            </a:r>
            <a:r>
              <a:rPr lang="en-US" sz="1200" b="0" u="none" strike="noStrike">
                <a:solidFill>
                  <a:srgbClr val="333333"/>
                </a:solidFill>
                <a:effectLst/>
                <a:uFillTx/>
                <a:latin typeface="Malgun Gothic"/>
                <a:ea typeface="Malgun Gothic"/>
              </a:rPr>
              <a:t>ELECTRA </a:t>
            </a:r>
            <a:r>
              <a:rPr lang="ko-KR" sz="1200" b="0" u="none" strike="noStrike">
                <a:solidFill>
                  <a:srgbClr val="333333"/>
                </a:solidFill>
                <a:effectLst/>
                <a:uFillTx/>
                <a:latin typeface="Malgun Gothic"/>
                <a:ea typeface="Malgun Gothic"/>
              </a:rPr>
              <a:t>기반 모델 학습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200" b="0" u="none" strike="noStrike">
                <a:solidFill>
                  <a:srgbClr val="333333"/>
                </a:solidFill>
                <a:effectLst/>
                <a:uFillTx/>
                <a:latin typeface="Malgun Gothic"/>
                <a:ea typeface="Malgun Gothic"/>
              </a:rPr>
              <a:t>정확도</a:t>
            </a:r>
            <a:r>
              <a:rPr lang="en-US" sz="1200" b="0" u="none" strike="noStrike">
                <a:solidFill>
                  <a:srgbClr val="333333"/>
                </a:solidFill>
                <a:effectLst/>
                <a:uFillTx/>
                <a:latin typeface="Malgun Gothic"/>
                <a:ea typeface="Malgun Gothic"/>
              </a:rPr>
              <a:t>·</a:t>
            </a:r>
            <a:r>
              <a:rPr lang="ko-KR" sz="1200" b="0" u="none" strike="noStrike">
                <a:solidFill>
                  <a:srgbClr val="333333"/>
                </a:solidFill>
                <a:effectLst/>
                <a:uFillTx/>
                <a:latin typeface="Malgun Gothic"/>
                <a:ea typeface="Malgun Gothic"/>
              </a:rPr>
              <a:t>정밀도</a:t>
            </a:r>
            <a:r>
              <a:rPr lang="en-US" sz="1200" b="0" u="none" strike="noStrike">
                <a:solidFill>
                  <a:srgbClr val="333333"/>
                </a:solidFill>
                <a:effectLst/>
                <a:uFillTx/>
                <a:latin typeface="Malgun Gothic"/>
                <a:ea typeface="Malgun Gothic"/>
              </a:rPr>
              <a:t>·</a:t>
            </a:r>
            <a:r>
              <a:rPr lang="ko-KR" sz="1200" b="0" u="none" strike="noStrike">
                <a:solidFill>
                  <a:srgbClr val="333333"/>
                </a:solidFill>
                <a:effectLst/>
                <a:uFillTx/>
                <a:latin typeface="Malgun Gothic"/>
                <a:ea typeface="Malgun Gothic"/>
              </a:rPr>
              <a:t>재현율</a:t>
            </a:r>
            <a:r>
              <a:rPr lang="en-US" sz="1200" b="0" u="none" strike="noStrike">
                <a:solidFill>
                  <a:srgbClr val="333333"/>
                </a:solidFill>
                <a:effectLst/>
                <a:uFillTx/>
                <a:latin typeface="Malgun Gothic"/>
                <a:ea typeface="Malgun Gothic"/>
              </a:rPr>
              <a:t>·F1·ROC AUC </a:t>
            </a:r>
            <a:r>
              <a:rPr lang="ko-KR" sz="1200" b="0" u="none" strike="noStrike">
                <a:solidFill>
                  <a:srgbClr val="333333"/>
                </a:solidFill>
                <a:effectLst/>
                <a:uFillTx/>
                <a:latin typeface="Malgun Gothic"/>
                <a:ea typeface="Malgun Gothic"/>
              </a:rPr>
              <a:t>평가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333333"/>
                </a:solidFill>
                <a:effectLst/>
                <a:uFillTx/>
                <a:latin typeface="Malgun Gothic"/>
                <a:ea typeface="Malgun Gothic"/>
              </a:rPr>
              <a:t>Confusion Matrix / Actual vs Predicted / ROC </a:t>
            </a:r>
            <a:r>
              <a:rPr lang="ko-KR" sz="1200" b="0" u="none" strike="noStrike">
                <a:solidFill>
                  <a:srgbClr val="333333"/>
                </a:solidFill>
                <a:effectLst/>
                <a:uFillTx/>
                <a:latin typeface="Malgun Gothic"/>
                <a:ea typeface="Malgun Gothic"/>
              </a:rPr>
              <a:t>시각화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77" name="Shape 14"/>
          <p:cNvSpPr/>
          <p:nvPr/>
        </p:nvSpPr>
        <p:spPr>
          <a:xfrm>
            <a:off x="868680" y="3867840"/>
            <a:ext cx="1050480" cy="159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AFC0E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78" name="Text 15"/>
          <p:cNvSpPr/>
          <p:nvPr/>
        </p:nvSpPr>
        <p:spPr>
          <a:xfrm>
            <a:off x="868680" y="4563000"/>
            <a:ext cx="1050480" cy="273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500" b="1" u="none" strike="noStrike">
                <a:solidFill>
                  <a:srgbClr val="2F60D4"/>
                </a:solidFill>
                <a:effectLst/>
                <a:uFillTx/>
                <a:latin typeface="Malgun Gothic"/>
                <a:ea typeface="Malgun Gothic"/>
              </a:rPr>
              <a:t>시각화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79" name="Shape 16"/>
          <p:cNvSpPr/>
          <p:nvPr/>
        </p:nvSpPr>
        <p:spPr>
          <a:xfrm>
            <a:off x="1920240" y="3867840"/>
            <a:ext cx="2742120" cy="159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AFC0E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80" name="Text 17"/>
          <p:cNvSpPr/>
          <p:nvPr/>
        </p:nvSpPr>
        <p:spPr>
          <a:xfrm>
            <a:off x="2011680" y="4096440"/>
            <a:ext cx="2559240" cy="1233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300" b="1" u="none" strike="noStrike">
                <a:solidFill>
                  <a:srgbClr val="23304D"/>
                </a:solidFill>
                <a:effectLst/>
                <a:uFillTx/>
                <a:latin typeface="Malgun Gothic"/>
                <a:ea typeface="Malgun Gothic"/>
              </a:rPr>
              <a:t>웹 서비스 및 분석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81" name="Shape 18"/>
          <p:cNvSpPr/>
          <p:nvPr/>
        </p:nvSpPr>
        <p:spPr>
          <a:xfrm>
            <a:off x="4663440" y="3867840"/>
            <a:ext cx="6582600" cy="159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AFC0E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82" name="Text 19"/>
          <p:cNvSpPr/>
          <p:nvPr/>
        </p:nvSpPr>
        <p:spPr>
          <a:xfrm>
            <a:off x="4773240" y="4014360"/>
            <a:ext cx="6363000" cy="1324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333333"/>
                </a:solidFill>
                <a:effectLst/>
                <a:uFillTx/>
                <a:latin typeface="Malgun Gothic"/>
                <a:ea typeface="Malgun Gothic"/>
              </a:rPr>
              <a:t>Streamlit Cloud </a:t>
            </a:r>
            <a:r>
              <a:rPr lang="ko-KR" sz="1200" b="0" u="none" strike="noStrike">
                <a:solidFill>
                  <a:srgbClr val="333333"/>
                </a:solidFill>
                <a:effectLst/>
                <a:uFillTx/>
                <a:latin typeface="Malgun Gothic"/>
                <a:ea typeface="Malgun Gothic"/>
              </a:rPr>
              <a:t>기반 예측 화면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200" b="0" u="none" strike="noStrike">
                <a:solidFill>
                  <a:srgbClr val="333333"/>
                </a:solidFill>
                <a:effectLst/>
                <a:uFillTx/>
                <a:latin typeface="Malgun Gothic"/>
                <a:ea typeface="Malgun Gothic"/>
              </a:rPr>
              <a:t>확률 분포 표시와 예시 문장 테스트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200" b="0" u="none" strike="noStrike">
                <a:solidFill>
                  <a:srgbClr val="333333"/>
                </a:solidFill>
                <a:effectLst/>
                <a:uFillTx/>
                <a:latin typeface="Malgun Gothic"/>
                <a:ea typeface="Malgun Gothic"/>
              </a:rPr>
              <a:t>오분류 사례 분석 테이블 및 주요 결과물 제공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83" name="PlaceHolder 1"/>
          <p:cNvSpPr>
            <a:spLocks noGrp="1"/>
          </p:cNvSpPr>
          <p:nvPr>
            <p:ph type="sldNum" idx="9"/>
          </p:nvPr>
        </p:nvSpPr>
        <p:spPr>
          <a:xfrm>
            <a:off x="11109960" y="6428160"/>
            <a:ext cx="456120" cy="200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800" b="0" u="none" strike="noStrike">
                <a:solidFill>
                  <a:srgbClr val="5E6B86"/>
                </a:solidFill>
                <a:effectLst/>
                <a:uFillTx/>
                <a:latin typeface="Malgun Gothic"/>
                <a:ea typeface="Malgun Gothic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12CEC582-1091-45E7-A2F7-CEBF4D29512F}" type="slidenum">
              <a:rPr lang="en-US" sz="800" b="0" u="none" strike="noStrike">
                <a:solidFill>
                  <a:srgbClr val="5E6B86"/>
                </a:solidFill>
                <a:effectLst/>
                <a:uFillTx/>
                <a:latin typeface="Malgun Gothic"/>
                <a:ea typeface="Malgun Gothic"/>
              </a:rPr>
              <a:t>4</a:t>
            </a:fld>
            <a:endParaRPr lang="en-US" sz="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Text 0"/>
          <p:cNvSpPr/>
          <p:nvPr/>
        </p:nvSpPr>
        <p:spPr>
          <a:xfrm>
            <a:off x="502920" y="640080"/>
            <a:ext cx="5119560" cy="410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1A1A1A"/>
                </a:solidFill>
                <a:effectLst/>
                <a:uFillTx/>
                <a:latin typeface="Malgun Gothic"/>
                <a:ea typeface="Malgun Gothic"/>
              </a:rPr>
              <a:t>3. </a:t>
            </a:r>
            <a:r>
              <a:rPr lang="ko-KR" sz="2200" b="1" u="none" strike="noStrike">
                <a:solidFill>
                  <a:srgbClr val="1A1A1A"/>
                </a:solidFill>
                <a:effectLst/>
                <a:uFillTx/>
                <a:latin typeface="Malgun Gothic"/>
                <a:ea typeface="Malgun Gothic"/>
              </a:rPr>
              <a:t>데이터셋 및 라벨링 방식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85" name="Shape 1"/>
          <p:cNvSpPr/>
          <p:nvPr/>
        </p:nvSpPr>
        <p:spPr>
          <a:xfrm>
            <a:off x="685800" y="1234440"/>
            <a:ext cx="4753800" cy="4982400"/>
          </a:xfrm>
          <a:prstGeom prst="roundRect">
            <a:avLst>
              <a:gd name="adj" fmla="val 962"/>
            </a:avLst>
          </a:prstGeom>
          <a:solidFill>
            <a:srgbClr val="FFFFFF"/>
          </a:solidFill>
          <a:ln w="12700">
            <a:solidFill>
              <a:srgbClr val="D6DC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86" name="Text 2"/>
          <p:cNvSpPr/>
          <p:nvPr/>
        </p:nvSpPr>
        <p:spPr>
          <a:xfrm>
            <a:off x="868680" y="1417320"/>
            <a:ext cx="1736280" cy="227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600" b="1" u="none" strike="noStrike">
                <a:solidFill>
                  <a:srgbClr val="23304D"/>
                </a:solidFill>
                <a:effectLst/>
                <a:uFillTx/>
                <a:latin typeface="Malgun Gothic"/>
                <a:ea typeface="Malgun Gothic"/>
              </a:rPr>
              <a:t>데이터셋 요약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87" name="Text 3"/>
          <p:cNvSpPr/>
          <p:nvPr/>
        </p:nvSpPr>
        <p:spPr>
          <a:xfrm>
            <a:off x="868680" y="1783080"/>
            <a:ext cx="4296600" cy="1553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177840" indent="-177840" defTabSz="914400">
              <a:lnSpc>
                <a:spcPct val="100000"/>
              </a:lnSpc>
              <a:buClr>
                <a:srgbClr val="333333"/>
              </a:buClr>
              <a:buFont typeface="Symbol" charset="2"/>
              <a:buChar char=""/>
            </a:pPr>
            <a:r>
              <a:rPr lang="ko-KR" sz="1200" b="0" u="none" strike="noStrike">
                <a:solidFill>
                  <a:srgbClr val="333333"/>
                </a:solidFill>
                <a:effectLst/>
                <a:uFillTx/>
                <a:latin typeface="Malgun Gothic"/>
                <a:ea typeface="Malgun Gothic"/>
              </a:rPr>
              <a:t>원본 </a:t>
            </a:r>
            <a:r>
              <a:rPr lang="en-US" sz="1200" b="0" u="none" strike="noStrike">
                <a:solidFill>
                  <a:srgbClr val="333333"/>
                </a:solidFill>
                <a:effectLst/>
                <a:uFillTx/>
                <a:latin typeface="Malgun Gothic"/>
                <a:ea typeface="Malgun Gothic"/>
              </a:rPr>
              <a:t>KOLD </a:t>
            </a:r>
            <a:r>
              <a:rPr lang="ko-KR" sz="1200" b="0" u="none" strike="noStrike">
                <a:solidFill>
                  <a:srgbClr val="333333"/>
                </a:solidFill>
                <a:effectLst/>
                <a:uFillTx/>
                <a:latin typeface="Malgun Gothic"/>
                <a:ea typeface="Malgun Gothic"/>
              </a:rPr>
              <a:t>전체 데이터</a:t>
            </a:r>
            <a:r>
              <a:rPr lang="en-US" sz="1200" b="0" u="none" strike="noStrike">
                <a:solidFill>
                  <a:srgbClr val="333333"/>
                </a:solidFill>
                <a:effectLst/>
                <a:uFillTx/>
                <a:latin typeface="Malgun Gothic"/>
                <a:ea typeface="Malgun Gothic"/>
              </a:rPr>
              <a:t>: 40,429</a:t>
            </a:r>
            <a:r>
              <a:rPr lang="ko-KR" sz="1200" b="0" u="none" strike="noStrike">
                <a:solidFill>
                  <a:srgbClr val="333333"/>
                </a:solidFill>
                <a:effectLst/>
                <a:uFillTx/>
                <a:latin typeface="Malgun Gothic"/>
                <a:ea typeface="Malgun Gothic"/>
              </a:rPr>
              <a:t>건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333333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333333"/>
                </a:solidFill>
                <a:effectLst/>
                <a:uFillTx/>
                <a:latin typeface="Malgun Gothic"/>
                <a:ea typeface="Malgun Gothic"/>
              </a:rPr>
              <a:t>CPU </a:t>
            </a:r>
            <a:r>
              <a:rPr lang="ko-KR" sz="1200" b="0" u="none" strike="noStrike">
                <a:solidFill>
                  <a:srgbClr val="333333"/>
                </a:solidFill>
                <a:effectLst/>
                <a:uFillTx/>
                <a:latin typeface="Malgun Gothic"/>
                <a:ea typeface="Malgun Gothic"/>
              </a:rPr>
              <a:t>경량 학습용 사용 데이터</a:t>
            </a:r>
            <a:r>
              <a:rPr lang="en-US" sz="1200" b="0" u="none" strike="noStrike">
                <a:solidFill>
                  <a:srgbClr val="333333"/>
                </a:solidFill>
                <a:effectLst/>
                <a:uFillTx/>
                <a:latin typeface="Malgun Gothic"/>
                <a:ea typeface="Malgun Gothic"/>
              </a:rPr>
              <a:t>: 4,000</a:t>
            </a:r>
            <a:r>
              <a:rPr lang="ko-KR" sz="1200" b="0" u="none" strike="noStrike">
                <a:solidFill>
                  <a:srgbClr val="333333"/>
                </a:solidFill>
                <a:effectLst/>
                <a:uFillTx/>
                <a:latin typeface="Malgun Gothic"/>
                <a:ea typeface="Malgun Gothic"/>
              </a:rPr>
              <a:t>건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333333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333333"/>
                </a:solidFill>
                <a:effectLst/>
                <a:uFillTx/>
                <a:latin typeface="Malgun Gothic"/>
                <a:ea typeface="Malgun Gothic"/>
              </a:rPr>
              <a:t>Train / Validation / Test = 3000 / 500 / 500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333333"/>
              </a:buClr>
              <a:buFont typeface="Symbol" charset="2"/>
              <a:buChar char=""/>
            </a:pPr>
            <a:r>
              <a:rPr lang="ko-KR" sz="1200" b="0" u="none" strike="noStrike">
                <a:solidFill>
                  <a:srgbClr val="333333"/>
                </a:solidFill>
                <a:effectLst/>
                <a:uFillTx/>
                <a:latin typeface="Malgun Gothic"/>
                <a:ea typeface="Malgun Gothic"/>
              </a:rPr>
              <a:t>실학습 라벨 분포</a:t>
            </a:r>
            <a:r>
              <a:rPr lang="en-US" sz="1200" b="0" u="none" strike="noStrike">
                <a:solidFill>
                  <a:srgbClr val="333333"/>
                </a:solidFill>
                <a:effectLst/>
                <a:uFillTx/>
                <a:latin typeface="Malgun Gothic"/>
                <a:ea typeface="Malgun Gothic"/>
              </a:rPr>
              <a:t>: normal 2,080</a:t>
            </a:r>
            <a:r>
              <a:rPr lang="ko-KR" sz="1200" b="0" u="none" strike="noStrike">
                <a:solidFill>
                  <a:srgbClr val="333333"/>
                </a:solidFill>
                <a:effectLst/>
                <a:uFillTx/>
                <a:latin typeface="Malgun Gothic"/>
                <a:ea typeface="Malgun Gothic"/>
              </a:rPr>
              <a:t>건</a:t>
            </a:r>
            <a:r>
              <a:rPr lang="en-US" sz="1200" b="0" u="none" strike="noStrike">
                <a:solidFill>
                  <a:srgbClr val="333333"/>
                </a:solidFill>
                <a:effectLst/>
                <a:uFillTx/>
                <a:latin typeface="Malgun Gothic"/>
                <a:ea typeface="Malgun Gothic"/>
              </a:rPr>
              <a:t>, toxic 1,920</a:t>
            </a:r>
            <a:r>
              <a:rPr lang="ko-KR" sz="1200" b="0" u="none" strike="noStrike">
                <a:solidFill>
                  <a:srgbClr val="333333"/>
                </a:solidFill>
                <a:effectLst/>
                <a:uFillTx/>
                <a:latin typeface="Malgun Gothic"/>
                <a:ea typeface="Malgun Gothic"/>
              </a:rPr>
              <a:t>건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88" name="Text 4"/>
          <p:cNvSpPr/>
          <p:nvPr/>
        </p:nvSpPr>
        <p:spPr>
          <a:xfrm>
            <a:off x="868680" y="3657600"/>
            <a:ext cx="1644840" cy="227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600" b="1" u="none" strike="noStrike">
                <a:solidFill>
                  <a:srgbClr val="23304D"/>
                </a:solidFill>
                <a:effectLst/>
                <a:uFillTx/>
                <a:latin typeface="Malgun Gothic"/>
                <a:ea typeface="Malgun Gothic"/>
              </a:rPr>
              <a:t>라벨링 방식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89" name="Shape 5"/>
          <p:cNvSpPr/>
          <p:nvPr/>
        </p:nvSpPr>
        <p:spPr>
          <a:xfrm>
            <a:off x="914400" y="4069080"/>
            <a:ext cx="1461960" cy="776160"/>
          </a:xfrm>
          <a:prstGeom prst="roundRect">
            <a:avLst>
              <a:gd name="adj" fmla="val 5882"/>
            </a:avLst>
          </a:prstGeom>
          <a:solidFill>
            <a:srgbClr val="EEF4FF"/>
          </a:solidFill>
          <a:ln w="12700">
            <a:solidFill>
              <a:srgbClr val="B7C9E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90" name="Text 6"/>
          <p:cNvSpPr/>
          <p:nvPr/>
        </p:nvSpPr>
        <p:spPr>
          <a:xfrm>
            <a:off x="914400" y="4242960"/>
            <a:ext cx="1461960" cy="318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F60D4"/>
                </a:solidFill>
                <a:effectLst/>
                <a:uFillTx/>
                <a:latin typeface="Malgun Gothic"/>
                <a:ea typeface="Malgun Gothic"/>
              </a:rPr>
              <a:t>OFF = False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F60D4"/>
                </a:solidFill>
                <a:effectLst/>
                <a:uFillTx/>
                <a:latin typeface="Malgun Gothic"/>
                <a:ea typeface="Malgun Gothic"/>
              </a:rPr>
              <a:t>→ normal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91" name="Shape 7"/>
          <p:cNvSpPr/>
          <p:nvPr/>
        </p:nvSpPr>
        <p:spPr>
          <a:xfrm>
            <a:off x="2560320" y="4233600"/>
            <a:ext cx="410400" cy="410400"/>
          </a:xfrm>
          <a:prstGeom prst="chevron">
            <a:avLst>
              <a:gd name="adj" fmla="val 50000"/>
            </a:avLst>
          </a:prstGeom>
          <a:solidFill>
            <a:srgbClr val="9AB0E8"/>
          </a:solidFill>
          <a:ln w="12700">
            <a:solidFill>
              <a:srgbClr val="9AB0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92" name="Shape 8"/>
          <p:cNvSpPr/>
          <p:nvPr/>
        </p:nvSpPr>
        <p:spPr>
          <a:xfrm>
            <a:off x="3154680" y="4069080"/>
            <a:ext cx="1461960" cy="776160"/>
          </a:xfrm>
          <a:prstGeom prst="roundRect">
            <a:avLst>
              <a:gd name="adj" fmla="val 5882"/>
            </a:avLst>
          </a:prstGeom>
          <a:solidFill>
            <a:srgbClr val="FFF0F0"/>
          </a:solidFill>
          <a:ln w="12700">
            <a:solidFill>
              <a:srgbClr val="E7B1B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93" name="Text 9"/>
          <p:cNvSpPr/>
          <p:nvPr/>
        </p:nvSpPr>
        <p:spPr>
          <a:xfrm>
            <a:off x="3154680" y="4242960"/>
            <a:ext cx="1461960" cy="318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C54545"/>
                </a:solidFill>
                <a:effectLst/>
                <a:uFillTx/>
                <a:latin typeface="Malgun Gothic"/>
                <a:ea typeface="Malgun Gothic"/>
              </a:rPr>
              <a:t>OFF = True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C54545"/>
                </a:solidFill>
                <a:effectLst/>
                <a:uFillTx/>
                <a:latin typeface="Malgun Gothic"/>
                <a:ea typeface="Malgun Gothic"/>
              </a:rPr>
              <a:t>→ toxic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pic>
        <p:nvPicPr>
          <p:cNvPr id="194" name="Image 0" descr="/mnt/data/label_distribution.png"/>
          <p:cNvPicPr/>
          <p:nvPr/>
        </p:nvPicPr>
        <p:blipFill>
          <a:blip r:embed="rId3"/>
          <a:stretch/>
        </p:blipFill>
        <p:spPr>
          <a:xfrm>
            <a:off x="5669280" y="1794600"/>
            <a:ext cx="5485320" cy="3633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5" name="Text 10"/>
          <p:cNvSpPr/>
          <p:nvPr/>
        </p:nvSpPr>
        <p:spPr>
          <a:xfrm>
            <a:off x="7223760" y="5897880"/>
            <a:ext cx="2559240" cy="163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100" b="0" u="none" strike="noStrike">
                <a:solidFill>
                  <a:srgbClr val="5E6B86"/>
                </a:solidFill>
                <a:effectLst/>
                <a:uFillTx/>
                <a:latin typeface="Malgun Gothic"/>
                <a:ea typeface="Malgun Gothic"/>
              </a:rPr>
              <a:t>실학습 데이터 라벨 분포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96" name="PlaceHolder 1"/>
          <p:cNvSpPr>
            <a:spLocks noGrp="1"/>
          </p:cNvSpPr>
          <p:nvPr>
            <p:ph type="sldNum" idx="10"/>
          </p:nvPr>
        </p:nvSpPr>
        <p:spPr>
          <a:xfrm>
            <a:off x="11109960" y="6428160"/>
            <a:ext cx="456120" cy="200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800" b="0" u="none" strike="noStrike">
                <a:solidFill>
                  <a:srgbClr val="5E6B86"/>
                </a:solidFill>
                <a:effectLst/>
                <a:uFillTx/>
                <a:latin typeface="Malgun Gothic"/>
                <a:ea typeface="Malgun Gothic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E1893676-FEC5-43D8-9752-CAB5F6C4EDEF}" type="slidenum">
              <a:rPr lang="en-US" sz="800" b="0" u="none" strike="noStrike">
                <a:solidFill>
                  <a:srgbClr val="5E6B86"/>
                </a:solidFill>
                <a:effectLst/>
                <a:uFillTx/>
                <a:latin typeface="Malgun Gothic"/>
                <a:ea typeface="Malgun Gothic"/>
              </a:rPr>
              <a:t>5</a:t>
            </a:fld>
            <a:endParaRPr lang="en-US" sz="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Text 0"/>
          <p:cNvSpPr/>
          <p:nvPr/>
        </p:nvSpPr>
        <p:spPr>
          <a:xfrm>
            <a:off x="502920" y="640080"/>
            <a:ext cx="5119560" cy="410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1A1A1A"/>
                </a:solidFill>
                <a:effectLst/>
                <a:uFillTx/>
                <a:latin typeface="Malgun Gothic"/>
                <a:ea typeface="Malgun Gothic"/>
              </a:rPr>
              <a:t>4. </a:t>
            </a:r>
            <a:r>
              <a:rPr lang="ko-KR" sz="2200" b="1" u="none" strike="noStrike">
                <a:solidFill>
                  <a:srgbClr val="1A1A1A"/>
                </a:solidFill>
                <a:effectLst/>
                <a:uFillTx/>
                <a:latin typeface="Malgun Gothic"/>
                <a:ea typeface="Malgun Gothic"/>
              </a:rPr>
              <a:t>모델 및 학습 전략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98" name="Shape 1"/>
          <p:cNvSpPr/>
          <p:nvPr/>
        </p:nvSpPr>
        <p:spPr>
          <a:xfrm>
            <a:off x="685800" y="1280160"/>
            <a:ext cx="3656520" cy="447948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7DEEA"/>
            </a:solidFill>
            <a:round/>
          </a:ln>
          <a:effectLst>
            <a:outerShdw blurRad="25560" dist="12218" dir="27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99" name="Shape 2"/>
          <p:cNvSpPr/>
          <p:nvPr/>
        </p:nvSpPr>
        <p:spPr>
          <a:xfrm>
            <a:off x="822960" y="1444680"/>
            <a:ext cx="108720" cy="291600"/>
          </a:xfrm>
          <a:prstGeom prst="roundRect">
            <a:avLst>
              <a:gd name="adj" fmla="val 33333"/>
            </a:avLst>
          </a:prstGeom>
          <a:solidFill>
            <a:srgbClr val="2F60D4"/>
          </a:solidFill>
          <a:ln w="12700">
            <a:solidFill>
              <a:srgbClr val="2F60D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4360" tIns="45000" rIns="5436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200" name="Text 3"/>
          <p:cNvSpPr/>
          <p:nvPr/>
        </p:nvSpPr>
        <p:spPr>
          <a:xfrm>
            <a:off x="978480" y="1408320"/>
            <a:ext cx="3245040" cy="254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600" b="1" u="none" strike="noStrike">
                <a:solidFill>
                  <a:srgbClr val="1F2B4D"/>
                </a:solidFill>
                <a:effectLst/>
                <a:uFillTx/>
                <a:latin typeface="Malgun Gothic"/>
                <a:ea typeface="Malgun Gothic"/>
              </a:rPr>
              <a:t>기본 모델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01" name="Text 4"/>
          <p:cNvSpPr/>
          <p:nvPr/>
        </p:nvSpPr>
        <p:spPr>
          <a:xfrm>
            <a:off x="941760" y="1755720"/>
            <a:ext cx="3290760" cy="3912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Autofit/>
          </a:bodyPr>
          <a:lstStyle/>
          <a:p>
            <a:pPr marL="177840" indent="-177840" defTabSz="914400">
              <a:lnSpc>
                <a:spcPct val="100000"/>
              </a:lnSpc>
              <a:buClr>
                <a:srgbClr val="333333"/>
              </a:buClr>
              <a:buFont typeface="Symbol" charset="2"/>
              <a:buChar char=""/>
            </a:pPr>
            <a:r>
              <a:rPr lang="ko-KR" sz="1150" b="0" u="none" strike="noStrike">
                <a:solidFill>
                  <a:srgbClr val="333333"/>
                </a:solidFill>
                <a:effectLst/>
                <a:uFillTx/>
                <a:latin typeface="Malgun Gothic"/>
                <a:ea typeface="Malgun Gothic"/>
              </a:rPr>
              <a:t>모델명</a:t>
            </a:r>
            <a:r>
              <a:rPr lang="en-US" sz="1150" b="0" u="none" strike="noStrike">
                <a:solidFill>
                  <a:srgbClr val="333333"/>
                </a:solidFill>
                <a:effectLst/>
                <a:uFillTx/>
                <a:latin typeface="Malgun Gothic"/>
                <a:ea typeface="Malgun Gothic"/>
              </a:rPr>
              <a:t>: beomi/KcELECTRA-small-v2022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333333"/>
              </a:buClr>
              <a:buFont typeface="Symbol" charset="2"/>
              <a:buChar char=""/>
            </a:pPr>
            <a:r>
              <a:rPr lang="ko-KR" sz="1150" b="0" u="none" strike="noStrike">
                <a:solidFill>
                  <a:srgbClr val="333333"/>
                </a:solidFill>
                <a:effectLst/>
                <a:uFillTx/>
                <a:latin typeface="Malgun Gothic"/>
                <a:ea typeface="Malgun Gothic"/>
              </a:rPr>
              <a:t>한국어 댓글 문맥을 처리할 수 있는 </a:t>
            </a:r>
            <a:r>
              <a:rPr lang="en-US" sz="1150" b="0" u="none" strike="noStrike">
                <a:solidFill>
                  <a:srgbClr val="333333"/>
                </a:solidFill>
                <a:effectLst/>
                <a:uFillTx/>
                <a:latin typeface="Malgun Gothic"/>
                <a:ea typeface="Malgun Gothic"/>
              </a:rPr>
              <a:t>ELECTRA small </a:t>
            </a:r>
            <a:r>
              <a:rPr lang="ko-KR" sz="1150" b="0" u="none" strike="noStrike">
                <a:solidFill>
                  <a:srgbClr val="333333"/>
                </a:solidFill>
                <a:effectLst/>
                <a:uFillTx/>
                <a:latin typeface="Malgun Gothic"/>
                <a:ea typeface="Malgun Gothic"/>
              </a:rPr>
              <a:t>계열 사용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333333"/>
              </a:buClr>
              <a:buFont typeface="Symbol" charset="2"/>
              <a:buChar char=""/>
            </a:pPr>
            <a:r>
              <a:rPr lang="ko-KR" sz="1150" b="0" u="none" strike="noStrike">
                <a:solidFill>
                  <a:srgbClr val="333333"/>
                </a:solidFill>
                <a:effectLst/>
                <a:uFillTx/>
                <a:latin typeface="Malgun Gothic"/>
                <a:ea typeface="Malgun Gothic"/>
              </a:rPr>
              <a:t>이진 분류용 </a:t>
            </a:r>
            <a:r>
              <a:rPr lang="en-US" sz="1150" b="0" u="none" strike="noStrike">
                <a:solidFill>
                  <a:srgbClr val="333333"/>
                </a:solidFill>
                <a:effectLst/>
                <a:uFillTx/>
                <a:latin typeface="Malgun Gothic"/>
                <a:ea typeface="Malgun Gothic"/>
              </a:rPr>
              <a:t>Sequence Classification head </a:t>
            </a:r>
            <a:r>
              <a:rPr lang="ko-KR" sz="1150" b="0" u="none" strike="noStrike">
                <a:solidFill>
                  <a:srgbClr val="333333"/>
                </a:solidFill>
                <a:effectLst/>
                <a:uFillTx/>
                <a:latin typeface="Malgun Gothic"/>
                <a:ea typeface="Malgun Gothic"/>
              </a:rPr>
              <a:t>적용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02" name="Shape 5"/>
          <p:cNvSpPr/>
          <p:nvPr/>
        </p:nvSpPr>
        <p:spPr>
          <a:xfrm>
            <a:off x="4526280" y="1280160"/>
            <a:ext cx="3473640" cy="447948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D7DEEA"/>
            </a:solidFill>
            <a:round/>
          </a:ln>
          <a:effectLst>
            <a:outerShdw blurRad="25560" dist="12218" dir="27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03" name="Shape 6"/>
          <p:cNvSpPr/>
          <p:nvPr/>
        </p:nvSpPr>
        <p:spPr>
          <a:xfrm>
            <a:off x="4663440" y="1444680"/>
            <a:ext cx="108720" cy="291600"/>
          </a:xfrm>
          <a:prstGeom prst="roundRect">
            <a:avLst>
              <a:gd name="adj" fmla="val 33333"/>
            </a:avLst>
          </a:prstGeom>
          <a:solidFill>
            <a:srgbClr val="6FC7C5"/>
          </a:solidFill>
          <a:ln w="12700">
            <a:solidFill>
              <a:srgbClr val="6FC7C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4360" tIns="45000" rIns="5436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04" name="Text 7"/>
          <p:cNvSpPr/>
          <p:nvPr/>
        </p:nvSpPr>
        <p:spPr>
          <a:xfrm>
            <a:off x="4818960" y="1408320"/>
            <a:ext cx="3062160" cy="254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600" b="1" u="none" strike="noStrike">
                <a:solidFill>
                  <a:srgbClr val="1F2B4D"/>
                </a:solidFill>
                <a:effectLst/>
                <a:uFillTx/>
                <a:latin typeface="Malgun Gothic"/>
                <a:ea typeface="Malgun Gothic"/>
              </a:rPr>
              <a:t>학습 설정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05" name="Text 8"/>
          <p:cNvSpPr/>
          <p:nvPr/>
        </p:nvSpPr>
        <p:spPr>
          <a:xfrm>
            <a:off x="4782240" y="1755720"/>
            <a:ext cx="3107880" cy="3912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Autofit/>
          </a:bodyPr>
          <a:lstStyle/>
          <a:p>
            <a:pPr marL="177840" indent="-177840" defTabSz="914400">
              <a:lnSpc>
                <a:spcPct val="100000"/>
              </a:lnSpc>
              <a:buClr>
                <a:srgbClr val="333333"/>
              </a:buClr>
              <a:buFont typeface="Symbol" charset="2"/>
              <a:buChar char=""/>
            </a:pPr>
            <a:r>
              <a:rPr lang="en-US" sz="1150" b="0" u="none" strike="noStrike">
                <a:solidFill>
                  <a:srgbClr val="333333"/>
                </a:solidFill>
                <a:effectLst/>
                <a:uFillTx/>
                <a:latin typeface="Malgun Gothic"/>
                <a:ea typeface="Malgun Gothic"/>
              </a:rPr>
              <a:t>max_length = 64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333333"/>
              </a:buClr>
              <a:buFont typeface="Symbol" charset="2"/>
              <a:buChar char=""/>
            </a:pPr>
            <a:r>
              <a:rPr lang="en-US" sz="1150" b="0" u="none" strike="noStrike">
                <a:solidFill>
                  <a:srgbClr val="333333"/>
                </a:solidFill>
                <a:effectLst/>
                <a:uFillTx/>
                <a:latin typeface="Malgun Gothic"/>
                <a:ea typeface="Malgun Gothic"/>
              </a:rPr>
              <a:t>train_batch_size = 8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333333"/>
              </a:buClr>
              <a:buFont typeface="Symbol" charset="2"/>
              <a:buChar char=""/>
            </a:pPr>
            <a:r>
              <a:rPr lang="en-US" sz="1150" b="0" u="none" strike="noStrike">
                <a:solidFill>
                  <a:srgbClr val="333333"/>
                </a:solidFill>
                <a:effectLst/>
                <a:uFillTx/>
                <a:latin typeface="Malgun Gothic"/>
                <a:ea typeface="Malgun Gothic"/>
              </a:rPr>
              <a:t>eval_batch_size = 8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333333"/>
              </a:buClr>
              <a:buFont typeface="Symbol" charset="2"/>
              <a:buChar char=""/>
            </a:pPr>
            <a:r>
              <a:rPr lang="en-US" sz="1150" b="0" u="none" strike="noStrike">
                <a:solidFill>
                  <a:srgbClr val="333333"/>
                </a:solidFill>
                <a:effectLst/>
                <a:uFillTx/>
                <a:latin typeface="Malgun Gothic"/>
                <a:ea typeface="Malgun Gothic"/>
              </a:rPr>
              <a:t>learning_rate = 0.00002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333333"/>
              </a:buClr>
              <a:buFont typeface="Symbol" charset="2"/>
              <a:buChar char=""/>
            </a:pPr>
            <a:r>
              <a:rPr lang="en-US" sz="1150" b="0" u="none" strike="noStrike">
                <a:solidFill>
                  <a:srgbClr val="333333"/>
                </a:solidFill>
                <a:effectLst/>
                <a:uFillTx/>
                <a:latin typeface="Malgun Gothic"/>
                <a:ea typeface="Malgun Gothic"/>
              </a:rPr>
              <a:t>epochs = 1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06" name="Shape 9"/>
          <p:cNvSpPr/>
          <p:nvPr/>
        </p:nvSpPr>
        <p:spPr>
          <a:xfrm>
            <a:off x="8183880" y="1280160"/>
            <a:ext cx="3290760" cy="447948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7DEEA"/>
            </a:solidFill>
            <a:round/>
          </a:ln>
          <a:effectLst>
            <a:outerShdw blurRad="25560" dist="12218" dir="27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07" name="Shape 10"/>
          <p:cNvSpPr/>
          <p:nvPr/>
        </p:nvSpPr>
        <p:spPr>
          <a:xfrm>
            <a:off x="8321040" y="1444680"/>
            <a:ext cx="108720" cy="291600"/>
          </a:xfrm>
          <a:prstGeom prst="roundRect">
            <a:avLst>
              <a:gd name="adj" fmla="val 33333"/>
            </a:avLst>
          </a:prstGeom>
          <a:solidFill>
            <a:srgbClr val="F3C53F"/>
          </a:solidFill>
          <a:ln w="12700">
            <a:solidFill>
              <a:srgbClr val="F3C53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4360" tIns="45000" rIns="5436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08" name="Text 11"/>
          <p:cNvSpPr/>
          <p:nvPr/>
        </p:nvSpPr>
        <p:spPr>
          <a:xfrm>
            <a:off x="8476560" y="1408320"/>
            <a:ext cx="2879280" cy="254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600" b="1" u="none" strike="noStrike">
                <a:solidFill>
                  <a:srgbClr val="1F2B4D"/>
                </a:solidFill>
                <a:effectLst/>
                <a:uFillTx/>
                <a:latin typeface="Malgun Gothic"/>
                <a:ea typeface="Malgun Gothic"/>
              </a:rPr>
              <a:t>학습 전략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09" name="Text 12"/>
          <p:cNvSpPr/>
          <p:nvPr/>
        </p:nvSpPr>
        <p:spPr>
          <a:xfrm>
            <a:off x="8439840" y="1755720"/>
            <a:ext cx="2925000" cy="3912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Autofit/>
          </a:bodyPr>
          <a:lstStyle/>
          <a:p>
            <a:pPr marL="177840" indent="-177840" defTabSz="914400">
              <a:lnSpc>
                <a:spcPct val="100000"/>
              </a:lnSpc>
              <a:buClr>
                <a:srgbClr val="333333"/>
              </a:buClr>
              <a:buFont typeface="Symbol" charset="2"/>
              <a:buChar char=""/>
            </a:pPr>
            <a:r>
              <a:rPr lang="en-US" sz="1150" b="0" u="none" strike="noStrike">
                <a:solidFill>
                  <a:srgbClr val="333333"/>
                </a:solidFill>
                <a:effectLst/>
                <a:uFillTx/>
                <a:latin typeface="Malgun Gothic"/>
                <a:ea typeface="Malgun Gothic"/>
              </a:rPr>
              <a:t>Stratified split</a:t>
            </a:r>
            <a:r>
              <a:rPr lang="ko-KR" sz="1150" b="0" u="none" strike="noStrike">
                <a:solidFill>
                  <a:srgbClr val="333333"/>
                </a:solidFill>
                <a:effectLst/>
                <a:uFillTx/>
                <a:latin typeface="Malgun Gothic"/>
                <a:ea typeface="Malgun Gothic"/>
              </a:rPr>
              <a:t>으로 클래스 비율 유지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333333"/>
              </a:buClr>
              <a:buFont typeface="Symbol" charset="2"/>
              <a:buChar char=""/>
            </a:pPr>
            <a:r>
              <a:rPr lang="en-US" sz="1150" b="0" u="none" strike="noStrike">
                <a:solidFill>
                  <a:srgbClr val="333333"/>
                </a:solidFill>
                <a:effectLst/>
                <a:uFillTx/>
                <a:latin typeface="Malgun Gothic"/>
                <a:ea typeface="Malgun Gothic"/>
              </a:rPr>
              <a:t>Weighted Cross Entropy</a:t>
            </a:r>
            <a:r>
              <a:rPr lang="ko-KR" sz="1150" b="0" u="none" strike="noStrike">
                <a:solidFill>
                  <a:srgbClr val="333333"/>
                </a:solidFill>
                <a:effectLst/>
                <a:uFillTx/>
                <a:latin typeface="Malgun Gothic"/>
                <a:ea typeface="Malgun Gothic"/>
              </a:rPr>
              <a:t>로 클래스 불균형 보완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333333"/>
              </a:buClr>
              <a:buFont typeface="Symbol" charset="2"/>
              <a:buChar char=""/>
            </a:pPr>
            <a:r>
              <a:rPr lang="en-US" sz="1150" b="0" u="none" strike="noStrike">
                <a:solidFill>
                  <a:srgbClr val="333333"/>
                </a:solidFill>
                <a:effectLst/>
                <a:uFillTx/>
                <a:latin typeface="Malgun Gothic"/>
                <a:ea typeface="Malgun Gothic"/>
              </a:rPr>
              <a:t>CPU </a:t>
            </a:r>
            <a:r>
              <a:rPr lang="ko-KR" sz="1150" b="0" u="none" strike="noStrike">
                <a:solidFill>
                  <a:srgbClr val="333333"/>
                </a:solidFill>
                <a:effectLst/>
                <a:uFillTx/>
                <a:latin typeface="Malgun Gothic"/>
                <a:ea typeface="Malgun Gothic"/>
              </a:rPr>
              <a:t>환경을 고려한 경량 학습셋으로 학습 시간 단축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333333"/>
              </a:buClr>
              <a:buFont typeface="Symbol" charset="2"/>
              <a:buChar char=""/>
            </a:pPr>
            <a:r>
              <a:rPr lang="en-US" sz="1150" b="0" u="none" strike="noStrike">
                <a:solidFill>
                  <a:srgbClr val="333333"/>
                </a:solidFill>
                <a:effectLst/>
                <a:uFillTx/>
                <a:latin typeface="Malgun Gothic"/>
                <a:ea typeface="Malgun Gothic"/>
              </a:rPr>
              <a:t>predict </a:t>
            </a:r>
            <a:r>
              <a:rPr lang="ko-KR" sz="1150" b="0" u="none" strike="noStrike">
                <a:solidFill>
                  <a:srgbClr val="333333"/>
                </a:solidFill>
                <a:effectLst/>
                <a:uFillTx/>
                <a:latin typeface="Malgun Gothic"/>
                <a:ea typeface="Malgun Gothic"/>
              </a:rPr>
              <a:t>결과 기반으로 지표</a:t>
            </a:r>
            <a:r>
              <a:rPr lang="en-US" sz="1150" b="0" u="none" strike="noStrike">
                <a:solidFill>
                  <a:srgbClr val="333333"/>
                </a:solidFill>
                <a:effectLst/>
                <a:uFillTx/>
                <a:latin typeface="Malgun Gothic"/>
                <a:ea typeface="Malgun Gothic"/>
              </a:rPr>
              <a:t>·</a:t>
            </a:r>
            <a:r>
              <a:rPr lang="ko-KR" sz="1150" b="0" u="none" strike="noStrike">
                <a:solidFill>
                  <a:srgbClr val="333333"/>
                </a:solidFill>
                <a:effectLst/>
                <a:uFillTx/>
                <a:latin typeface="Malgun Gothic"/>
                <a:ea typeface="Malgun Gothic"/>
              </a:rPr>
              <a:t>그래프</a:t>
            </a:r>
            <a:r>
              <a:rPr lang="en-US" sz="1150" b="0" u="none" strike="noStrike">
                <a:solidFill>
                  <a:srgbClr val="333333"/>
                </a:solidFill>
                <a:effectLst/>
                <a:uFillTx/>
                <a:latin typeface="Malgun Gothic"/>
                <a:ea typeface="Malgun Gothic"/>
              </a:rPr>
              <a:t>·</a:t>
            </a:r>
            <a:r>
              <a:rPr lang="ko-KR" sz="1150" b="0" u="none" strike="noStrike">
                <a:solidFill>
                  <a:srgbClr val="333333"/>
                </a:solidFill>
                <a:effectLst/>
                <a:uFillTx/>
                <a:latin typeface="Malgun Gothic"/>
                <a:ea typeface="Malgun Gothic"/>
              </a:rPr>
              <a:t>오분류 사례 저장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10" name="PlaceHolder 1"/>
          <p:cNvSpPr>
            <a:spLocks noGrp="1"/>
          </p:cNvSpPr>
          <p:nvPr>
            <p:ph type="sldNum" idx="11"/>
          </p:nvPr>
        </p:nvSpPr>
        <p:spPr>
          <a:xfrm>
            <a:off x="11109960" y="6428160"/>
            <a:ext cx="456120" cy="200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800" b="0" u="none" strike="noStrike">
                <a:solidFill>
                  <a:srgbClr val="5E6B86"/>
                </a:solidFill>
                <a:effectLst/>
                <a:uFillTx/>
                <a:latin typeface="Malgun Gothic"/>
                <a:ea typeface="Malgun Gothic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110A5E0-FEA8-4032-98DA-E349AB1F2599}" type="slidenum">
              <a:rPr lang="en-US" sz="800" b="0" u="none" strike="noStrike">
                <a:solidFill>
                  <a:srgbClr val="5E6B86"/>
                </a:solidFill>
                <a:effectLst/>
                <a:uFillTx/>
                <a:latin typeface="Malgun Gothic"/>
                <a:ea typeface="Malgun Gothic"/>
              </a:rPr>
              <a:t>6</a:t>
            </a:fld>
            <a:endParaRPr lang="en-US" sz="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0"/>
          <p:cNvSpPr/>
          <p:nvPr/>
        </p:nvSpPr>
        <p:spPr>
          <a:xfrm>
            <a:off x="502920" y="640080"/>
            <a:ext cx="5119560" cy="410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1A1A1A"/>
                </a:solidFill>
                <a:effectLst/>
                <a:uFillTx/>
                <a:latin typeface="Malgun Gothic"/>
                <a:ea typeface="Malgun Gothic"/>
              </a:rPr>
              <a:t>5. </a:t>
            </a:r>
            <a:r>
              <a:rPr lang="ko-KR" sz="2200" b="1" u="none" strike="noStrike">
                <a:solidFill>
                  <a:srgbClr val="1A1A1A"/>
                </a:solidFill>
                <a:effectLst/>
                <a:uFillTx/>
                <a:latin typeface="Malgun Gothic"/>
                <a:ea typeface="Malgun Gothic"/>
              </a:rPr>
              <a:t>구현 구조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12" name="Text 1"/>
          <p:cNvSpPr/>
          <p:nvPr/>
        </p:nvSpPr>
        <p:spPr>
          <a:xfrm>
            <a:off x="685800" y="1078920"/>
            <a:ext cx="6216840" cy="200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200" b="0" u="none" strike="noStrike">
                <a:solidFill>
                  <a:srgbClr val="5E6B86"/>
                </a:solidFill>
                <a:effectLst/>
                <a:uFillTx/>
                <a:latin typeface="Malgun Gothic"/>
                <a:ea typeface="Malgun Gothic"/>
              </a:rPr>
              <a:t>학습 노트북과 </a:t>
            </a:r>
            <a:r>
              <a:rPr lang="en-US" sz="1200" b="0" u="none" strike="noStrike">
                <a:solidFill>
                  <a:srgbClr val="5E6B86"/>
                </a:solidFill>
                <a:effectLst/>
                <a:uFillTx/>
                <a:latin typeface="Malgun Gothic"/>
                <a:ea typeface="Malgun Gothic"/>
              </a:rPr>
              <a:t>Streamlit Cloud </a:t>
            </a:r>
            <a:r>
              <a:rPr lang="ko-KR" sz="1200" b="0" u="none" strike="noStrike">
                <a:solidFill>
                  <a:srgbClr val="5E6B86"/>
                </a:solidFill>
                <a:effectLst/>
                <a:uFillTx/>
                <a:latin typeface="Malgun Gothic"/>
                <a:ea typeface="Malgun Gothic"/>
              </a:rPr>
              <a:t>서비스가 동일한 </a:t>
            </a:r>
            <a:r>
              <a:rPr lang="en-US" sz="1200" b="0" u="none" strike="noStrike">
                <a:solidFill>
                  <a:srgbClr val="5E6B86"/>
                </a:solidFill>
                <a:effectLst/>
                <a:uFillTx/>
                <a:latin typeface="Malgun Gothic"/>
                <a:ea typeface="Malgun Gothic"/>
              </a:rPr>
              <a:t>artifacts</a:t>
            </a:r>
            <a:r>
              <a:rPr lang="ko-KR" sz="1200" b="0" u="none" strike="noStrike">
                <a:solidFill>
                  <a:srgbClr val="5E6B86"/>
                </a:solidFill>
                <a:effectLst/>
                <a:uFillTx/>
                <a:latin typeface="Malgun Gothic"/>
                <a:ea typeface="Malgun Gothic"/>
              </a:rPr>
              <a:t>를 재사용하는 구조로 설계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13" name="Shape 2"/>
          <p:cNvSpPr/>
          <p:nvPr/>
        </p:nvSpPr>
        <p:spPr>
          <a:xfrm>
            <a:off x="868680" y="1828800"/>
            <a:ext cx="1919160" cy="1096200"/>
          </a:xfrm>
          <a:prstGeom prst="roundRect">
            <a:avLst>
              <a:gd name="adj" fmla="val 5000"/>
            </a:avLst>
          </a:prstGeom>
          <a:solidFill>
            <a:srgbClr val="EEF4FF"/>
          </a:solidFill>
          <a:ln w="12700">
            <a:solidFill>
              <a:srgbClr val="B8C8E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14" name="Text 3"/>
          <p:cNvSpPr/>
          <p:nvPr/>
        </p:nvSpPr>
        <p:spPr>
          <a:xfrm>
            <a:off x="868680" y="2011680"/>
            <a:ext cx="1919160" cy="346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2F60D4"/>
                </a:solidFill>
                <a:effectLst/>
                <a:uFillTx/>
                <a:latin typeface="Malgun Gothic"/>
                <a:ea typeface="Malgun Gothic"/>
              </a:rPr>
              <a:t>DATA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2F60D4"/>
                </a:solidFill>
                <a:effectLst/>
                <a:uFillTx/>
                <a:latin typeface="Malgun Gothic"/>
                <a:ea typeface="Malgun Gothic"/>
              </a:rPr>
              <a:t>IMPORTING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15" name="Text 4"/>
          <p:cNvSpPr/>
          <p:nvPr/>
        </p:nvSpPr>
        <p:spPr>
          <a:xfrm>
            <a:off x="1005840" y="3154680"/>
            <a:ext cx="1644840" cy="1004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333333"/>
                </a:solidFill>
                <a:effectLst/>
                <a:uFillTx/>
                <a:latin typeface="Malgun Gothic"/>
                <a:ea typeface="Malgun Gothic"/>
              </a:rPr>
              <a:t>KOLD </a:t>
            </a:r>
            <a:r>
              <a:rPr lang="ko-KR" sz="1150" b="0" u="none" strike="noStrike">
                <a:solidFill>
                  <a:srgbClr val="333333"/>
                </a:solidFill>
                <a:effectLst/>
                <a:uFillTx/>
                <a:latin typeface="Malgun Gothic"/>
                <a:ea typeface="Malgun Gothic"/>
              </a:rPr>
              <a:t>로드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150" b="0" u="none" strike="noStrike">
                <a:solidFill>
                  <a:srgbClr val="333333"/>
                </a:solidFill>
                <a:effectLst/>
                <a:uFillTx/>
                <a:latin typeface="Malgun Gothic"/>
                <a:ea typeface="Malgun Gothic"/>
              </a:rPr>
              <a:t>이진 라벨링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333333"/>
                </a:solidFill>
                <a:effectLst/>
                <a:uFillTx/>
                <a:latin typeface="Malgun Gothic"/>
                <a:ea typeface="Malgun Gothic"/>
              </a:rPr>
              <a:t>Stratified split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16" name="Shape 5"/>
          <p:cNvSpPr/>
          <p:nvPr/>
        </p:nvSpPr>
        <p:spPr>
          <a:xfrm>
            <a:off x="3246120" y="1828800"/>
            <a:ext cx="1919160" cy="1096200"/>
          </a:xfrm>
          <a:prstGeom prst="roundRect">
            <a:avLst>
              <a:gd name="adj" fmla="val 5000"/>
            </a:avLst>
          </a:prstGeom>
          <a:solidFill>
            <a:srgbClr val="F7FBFF"/>
          </a:solidFill>
          <a:ln w="12700">
            <a:solidFill>
              <a:srgbClr val="B8C8E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17" name="Text 6"/>
          <p:cNvSpPr/>
          <p:nvPr/>
        </p:nvSpPr>
        <p:spPr>
          <a:xfrm>
            <a:off x="3246120" y="2011680"/>
            <a:ext cx="1919160" cy="346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2F60D4"/>
                </a:solidFill>
                <a:effectLst/>
                <a:uFillTx/>
                <a:latin typeface="Malgun Gothic"/>
                <a:ea typeface="Malgun Gothic"/>
              </a:rPr>
              <a:t>AUTO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2F60D4"/>
                </a:solidFill>
                <a:effectLst/>
                <a:uFillTx/>
                <a:latin typeface="Malgun Gothic"/>
                <a:ea typeface="Malgun Gothic"/>
              </a:rPr>
              <a:t>PREDICTION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18" name="Text 7"/>
          <p:cNvSpPr/>
          <p:nvPr/>
        </p:nvSpPr>
        <p:spPr>
          <a:xfrm>
            <a:off x="3383280" y="3154680"/>
            <a:ext cx="1644840" cy="1004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150" b="0" u="none" strike="noStrike">
                <a:solidFill>
                  <a:srgbClr val="333333"/>
                </a:solidFill>
                <a:effectLst/>
                <a:uFillTx/>
                <a:latin typeface="Malgun Gothic"/>
                <a:ea typeface="Malgun Gothic"/>
              </a:rPr>
              <a:t>토크나이징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333333"/>
                </a:solidFill>
                <a:effectLst/>
                <a:uFillTx/>
                <a:latin typeface="Malgun Gothic"/>
                <a:ea typeface="Malgun Gothic"/>
              </a:rPr>
              <a:t>KcELECTRA-small </a:t>
            </a:r>
            <a:r>
              <a:rPr lang="ko-KR" sz="1150" b="0" u="none" strike="noStrike">
                <a:solidFill>
                  <a:srgbClr val="333333"/>
                </a:solidFill>
                <a:effectLst/>
                <a:uFillTx/>
                <a:latin typeface="Malgun Gothic"/>
                <a:ea typeface="Malgun Gothic"/>
              </a:rPr>
              <a:t>학습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150" b="0" u="none" strike="noStrike">
                <a:solidFill>
                  <a:srgbClr val="333333"/>
                </a:solidFill>
                <a:effectLst/>
                <a:uFillTx/>
                <a:latin typeface="Malgun Gothic"/>
                <a:ea typeface="Malgun Gothic"/>
              </a:rPr>
              <a:t>확률 예측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19" name="Shape 8"/>
          <p:cNvSpPr/>
          <p:nvPr/>
        </p:nvSpPr>
        <p:spPr>
          <a:xfrm>
            <a:off x="5715000" y="1828800"/>
            <a:ext cx="1919160" cy="1096200"/>
          </a:xfrm>
          <a:prstGeom prst="roundRect">
            <a:avLst>
              <a:gd name="adj" fmla="val 5000"/>
            </a:avLst>
          </a:prstGeom>
          <a:solidFill>
            <a:srgbClr val="EEF4FF"/>
          </a:solidFill>
          <a:ln w="12700">
            <a:solidFill>
              <a:srgbClr val="B8C8E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20" name="Text 9"/>
          <p:cNvSpPr/>
          <p:nvPr/>
        </p:nvSpPr>
        <p:spPr>
          <a:xfrm>
            <a:off x="5715000" y="2011680"/>
            <a:ext cx="1919160" cy="346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2F60D4"/>
                </a:solidFill>
                <a:effectLst/>
                <a:uFillTx/>
                <a:latin typeface="Malgun Gothic"/>
                <a:ea typeface="Malgun Gothic"/>
              </a:rPr>
              <a:t>USER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2F60D4"/>
                </a:solidFill>
                <a:effectLst/>
                <a:uFillTx/>
                <a:latin typeface="Malgun Gothic"/>
                <a:ea typeface="Malgun Gothic"/>
              </a:rPr>
              <a:t>INSIGHT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21" name="Text 10"/>
          <p:cNvSpPr/>
          <p:nvPr/>
        </p:nvSpPr>
        <p:spPr>
          <a:xfrm>
            <a:off x="5852160" y="3154680"/>
            <a:ext cx="1644840" cy="1004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150" b="0" u="none" strike="noStrike">
                <a:solidFill>
                  <a:srgbClr val="333333"/>
                </a:solidFill>
                <a:effectLst/>
                <a:uFillTx/>
                <a:latin typeface="Malgun Gothic"/>
                <a:ea typeface="Malgun Gothic"/>
              </a:rPr>
              <a:t>그래프 저장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333333"/>
                </a:solidFill>
                <a:effectLst/>
                <a:uFillTx/>
                <a:latin typeface="Malgun Gothic"/>
                <a:ea typeface="Malgun Gothic"/>
              </a:rPr>
              <a:t>CSV/JSON </a:t>
            </a:r>
            <a:r>
              <a:rPr lang="ko-KR" sz="1150" b="0" u="none" strike="noStrike">
                <a:solidFill>
                  <a:srgbClr val="333333"/>
                </a:solidFill>
                <a:effectLst/>
                <a:uFillTx/>
                <a:latin typeface="Malgun Gothic"/>
                <a:ea typeface="Malgun Gothic"/>
              </a:rPr>
              <a:t>저장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150" b="0" u="none" strike="noStrike">
                <a:solidFill>
                  <a:srgbClr val="333333"/>
                </a:solidFill>
                <a:effectLst/>
                <a:uFillTx/>
                <a:latin typeface="Malgun Gothic"/>
                <a:ea typeface="Malgun Gothic"/>
              </a:rPr>
              <a:t>오분류 분석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22" name="Shape 11"/>
          <p:cNvSpPr/>
          <p:nvPr/>
        </p:nvSpPr>
        <p:spPr>
          <a:xfrm>
            <a:off x="8183880" y="1828800"/>
            <a:ext cx="1919160" cy="1096200"/>
          </a:xfrm>
          <a:prstGeom prst="roundRect">
            <a:avLst>
              <a:gd name="adj" fmla="val 5000"/>
            </a:avLst>
          </a:prstGeom>
          <a:solidFill>
            <a:srgbClr val="F7FBFF"/>
          </a:solidFill>
          <a:ln w="12700">
            <a:solidFill>
              <a:srgbClr val="B8C8E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23" name="Text 12"/>
          <p:cNvSpPr/>
          <p:nvPr/>
        </p:nvSpPr>
        <p:spPr>
          <a:xfrm>
            <a:off x="8183880" y="2011680"/>
            <a:ext cx="1919160" cy="346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2F60D4"/>
                </a:solidFill>
                <a:effectLst/>
                <a:uFillTx/>
                <a:latin typeface="Malgun Gothic"/>
                <a:ea typeface="Malgun Gothic"/>
              </a:rPr>
              <a:t>STREAMLIT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2F60D4"/>
                </a:solidFill>
                <a:effectLst/>
                <a:uFillTx/>
                <a:latin typeface="Malgun Gothic"/>
                <a:ea typeface="Malgun Gothic"/>
              </a:rPr>
              <a:t>CLOUD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24" name="Text 13"/>
          <p:cNvSpPr/>
          <p:nvPr/>
        </p:nvSpPr>
        <p:spPr>
          <a:xfrm>
            <a:off x="8321040" y="3154680"/>
            <a:ext cx="1644840" cy="1004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150" b="0" u="none" strike="noStrike">
                <a:solidFill>
                  <a:srgbClr val="333333"/>
                </a:solidFill>
                <a:effectLst/>
                <a:uFillTx/>
                <a:latin typeface="Malgun Gothic"/>
                <a:ea typeface="Malgun Gothic"/>
              </a:rPr>
              <a:t>댓글 입력 예측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150" b="0" u="none" strike="noStrike">
                <a:solidFill>
                  <a:srgbClr val="333333"/>
                </a:solidFill>
                <a:effectLst/>
                <a:uFillTx/>
                <a:latin typeface="Malgun Gothic"/>
                <a:ea typeface="Malgun Gothic"/>
              </a:rPr>
              <a:t>지표</a:t>
            </a:r>
            <a:r>
              <a:rPr lang="en-US" sz="1150" b="0" u="none" strike="noStrike">
                <a:solidFill>
                  <a:srgbClr val="333333"/>
                </a:solidFill>
                <a:effectLst/>
                <a:uFillTx/>
                <a:latin typeface="Malgun Gothic"/>
                <a:ea typeface="Malgun Gothic"/>
              </a:rPr>
              <a:t>/</a:t>
            </a:r>
            <a:r>
              <a:rPr lang="ko-KR" sz="1150" b="0" u="none" strike="noStrike">
                <a:solidFill>
                  <a:srgbClr val="333333"/>
                </a:solidFill>
                <a:effectLst/>
                <a:uFillTx/>
                <a:latin typeface="Malgun Gothic"/>
                <a:ea typeface="Malgun Gothic"/>
              </a:rPr>
              <a:t>그래프 시각화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150" b="0" u="none" strike="noStrike">
                <a:solidFill>
                  <a:srgbClr val="333333"/>
                </a:solidFill>
                <a:effectLst/>
                <a:uFillTx/>
                <a:latin typeface="Malgun Gothic"/>
                <a:ea typeface="Malgun Gothic"/>
              </a:rPr>
              <a:t>서비스형 시연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25" name="Shape 14"/>
          <p:cNvSpPr/>
          <p:nvPr/>
        </p:nvSpPr>
        <p:spPr>
          <a:xfrm>
            <a:off x="2834640" y="2194560"/>
            <a:ext cx="318960" cy="318960"/>
          </a:xfrm>
          <a:prstGeom prst="chevron">
            <a:avLst>
              <a:gd name="adj" fmla="val 50000"/>
            </a:avLst>
          </a:prstGeom>
          <a:solidFill>
            <a:srgbClr val="95ABD9"/>
          </a:solidFill>
          <a:ln w="12700">
            <a:solidFill>
              <a:srgbClr val="95ABD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26" name="Shape 15"/>
          <p:cNvSpPr/>
          <p:nvPr/>
        </p:nvSpPr>
        <p:spPr>
          <a:xfrm>
            <a:off x="5303520" y="2194560"/>
            <a:ext cx="318960" cy="318960"/>
          </a:xfrm>
          <a:prstGeom prst="chevron">
            <a:avLst>
              <a:gd name="adj" fmla="val 50000"/>
            </a:avLst>
          </a:prstGeom>
          <a:solidFill>
            <a:srgbClr val="95ABD9"/>
          </a:solidFill>
          <a:ln w="12700">
            <a:solidFill>
              <a:srgbClr val="95ABD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27" name="Shape 16"/>
          <p:cNvSpPr/>
          <p:nvPr/>
        </p:nvSpPr>
        <p:spPr>
          <a:xfrm>
            <a:off x="7772400" y="2194560"/>
            <a:ext cx="318960" cy="318960"/>
          </a:xfrm>
          <a:prstGeom prst="chevron">
            <a:avLst>
              <a:gd name="adj" fmla="val 50000"/>
            </a:avLst>
          </a:prstGeom>
          <a:solidFill>
            <a:srgbClr val="95ABD9"/>
          </a:solidFill>
          <a:ln w="12700">
            <a:solidFill>
              <a:srgbClr val="95ABD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28" name="Shape 17"/>
          <p:cNvSpPr/>
          <p:nvPr/>
        </p:nvSpPr>
        <p:spPr>
          <a:xfrm>
            <a:off x="914400" y="4526280"/>
            <a:ext cx="10240200" cy="1096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7DE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29" name="Text 18"/>
          <p:cNvSpPr/>
          <p:nvPr/>
        </p:nvSpPr>
        <p:spPr>
          <a:xfrm>
            <a:off x="1097280" y="4773240"/>
            <a:ext cx="9874440" cy="529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200" b="0" u="none" strike="noStrike">
                <a:solidFill>
                  <a:srgbClr val="23304D"/>
                </a:solidFill>
                <a:effectLst/>
                <a:uFillTx/>
                <a:latin typeface="Malgun Gothic"/>
                <a:ea typeface="Malgun Gothic"/>
              </a:rPr>
              <a:t>결과 산출물</a:t>
            </a:r>
            <a:r>
              <a:rPr lang="en-US" sz="1200" b="0" u="none" strike="noStrike">
                <a:solidFill>
                  <a:srgbClr val="23304D"/>
                </a:solidFill>
                <a:effectLst/>
                <a:uFillTx/>
                <a:latin typeface="Malgun Gothic"/>
                <a:ea typeface="Malgun Gothic"/>
              </a:rPr>
              <a:t>: model/ + images/ + data/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23304D"/>
                </a:solidFill>
                <a:effectLst/>
                <a:uFillTx/>
                <a:latin typeface="Malgun Gothic"/>
                <a:ea typeface="Malgun Gothic"/>
              </a:rPr>
              <a:t>→ Confusion Matrix, ROC Curve, Actual vs Predicted, Training History, classification_report, metrics, predictions_test, false positives/negatives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30" name="PlaceHolder 1"/>
          <p:cNvSpPr>
            <a:spLocks noGrp="1"/>
          </p:cNvSpPr>
          <p:nvPr>
            <p:ph type="sldNum" idx="12"/>
          </p:nvPr>
        </p:nvSpPr>
        <p:spPr>
          <a:xfrm>
            <a:off x="11109960" y="6428160"/>
            <a:ext cx="456120" cy="200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800" b="0" u="none" strike="noStrike">
                <a:solidFill>
                  <a:srgbClr val="5E6B86"/>
                </a:solidFill>
                <a:effectLst/>
                <a:uFillTx/>
                <a:latin typeface="Malgun Gothic"/>
                <a:ea typeface="Malgun Gothic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CB10CA1-D116-456A-B15C-1EC9440FF5CC}" type="slidenum">
              <a:rPr lang="en-US" sz="800" b="0" u="none" strike="noStrike">
                <a:solidFill>
                  <a:srgbClr val="5E6B86"/>
                </a:solidFill>
                <a:effectLst/>
                <a:uFillTx/>
                <a:latin typeface="Malgun Gothic"/>
                <a:ea typeface="Malgun Gothic"/>
              </a:rPr>
              <a:t>7</a:t>
            </a:fld>
            <a:endParaRPr lang="en-US" sz="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Text 0"/>
          <p:cNvSpPr/>
          <p:nvPr/>
        </p:nvSpPr>
        <p:spPr>
          <a:xfrm>
            <a:off x="502920" y="640080"/>
            <a:ext cx="5119560" cy="410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1A1A1A"/>
                </a:solidFill>
                <a:effectLst/>
                <a:uFillTx/>
                <a:latin typeface="Malgun Gothic"/>
                <a:ea typeface="Malgun Gothic"/>
              </a:rPr>
              <a:t>6. </a:t>
            </a:r>
            <a:r>
              <a:rPr lang="ko-KR" sz="2200" b="1" u="none" strike="noStrike">
                <a:solidFill>
                  <a:srgbClr val="1A1A1A"/>
                </a:solidFill>
                <a:effectLst/>
                <a:uFillTx/>
                <a:latin typeface="Malgun Gothic"/>
                <a:ea typeface="Malgun Gothic"/>
              </a:rPr>
              <a:t>주요 결과물 – 성능 요약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32" name="Shape 1"/>
          <p:cNvSpPr/>
          <p:nvPr/>
        </p:nvSpPr>
        <p:spPr>
          <a:xfrm>
            <a:off x="731520" y="1325880"/>
            <a:ext cx="1919160" cy="100476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C9D4EA"/>
            </a:solidFill>
            <a:round/>
          </a:ln>
          <a:effectLst>
            <a:outerShdw blurRad="19080" dist="9673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33" name="Text 2"/>
          <p:cNvSpPr/>
          <p:nvPr/>
        </p:nvSpPr>
        <p:spPr>
          <a:xfrm>
            <a:off x="731520" y="1481400"/>
            <a:ext cx="1919160" cy="163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5E6B86"/>
                </a:solidFill>
                <a:effectLst/>
                <a:uFillTx/>
                <a:latin typeface="Malgun Gothic"/>
                <a:ea typeface="Malgun Gothic"/>
              </a:rPr>
              <a:t>Accuracy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34" name="Text 3"/>
          <p:cNvSpPr/>
          <p:nvPr/>
        </p:nvSpPr>
        <p:spPr>
          <a:xfrm>
            <a:off x="731520" y="1719000"/>
            <a:ext cx="1919160" cy="254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2F60D4"/>
                </a:solidFill>
                <a:effectLst/>
                <a:uFillTx/>
                <a:latin typeface="Malgun Gothic"/>
                <a:ea typeface="Malgun Gothic"/>
              </a:rPr>
              <a:t>0.776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35" name="Shape 4"/>
          <p:cNvSpPr/>
          <p:nvPr/>
        </p:nvSpPr>
        <p:spPr>
          <a:xfrm>
            <a:off x="2971800" y="1325880"/>
            <a:ext cx="1919160" cy="100476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C9D4EA"/>
            </a:solidFill>
            <a:round/>
          </a:ln>
          <a:effectLst>
            <a:outerShdw blurRad="19080" dist="9673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36" name="Text 5"/>
          <p:cNvSpPr/>
          <p:nvPr/>
        </p:nvSpPr>
        <p:spPr>
          <a:xfrm>
            <a:off x="2971800" y="1481400"/>
            <a:ext cx="1919160" cy="163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5E6B86"/>
                </a:solidFill>
                <a:effectLst/>
                <a:uFillTx/>
                <a:latin typeface="Malgun Gothic"/>
                <a:ea typeface="Malgun Gothic"/>
              </a:rPr>
              <a:t>Precision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37" name="Text 6"/>
          <p:cNvSpPr/>
          <p:nvPr/>
        </p:nvSpPr>
        <p:spPr>
          <a:xfrm>
            <a:off x="2971800" y="1719000"/>
            <a:ext cx="1919160" cy="254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2F60D4"/>
                </a:solidFill>
                <a:effectLst/>
                <a:uFillTx/>
                <a:latin typeface="Malgun Gothic"/>
                <a:ea typeface="Malgun Gothic"/>
              </a:rPr>
              <a:t>0.753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38" name="Shape 7"/>
          <p:cNvSpPr/>
          <p:nvPr/>
        </p:nvSpPr>
        <p:spPr>
          <a:xfrm>
            <a:off x="5212080" y="1325880"/>
            <a:ext cx="1919160" cy="100476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C9D4EA"/>
            </a:solidFill>
            <a:round/>
          </a:ln>
          <a:effectLst>
            <a:outerShdw blurRad="19080" dist="9673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39" name="Text 8"/>
          <p:cNvSpPr/>
          <p:nvPr/>
        </p:nvSpPr>
        <p:spPr>
          <a:xfrm>
            <a:off x="5212080" y="1481400"/>
            <a:ext cx="1919160" cy="163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5E6B86"/>
                </a:solidFill>
                <a:effectLst/>
                <a:uFillTx/>
                <a:latin typeface="Malgun Gothic"/>
                <a:ea typeface="Malgun Gothic"/>
              </a:rPr>
              <a:t>Recall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40" name="Text 9"/>
          <p:cNvSpPr/>
          <p:nvPr/>
        </p:nvSpPr>
        <p:spPr>
          <a:xfrm>
            <a:off x="5212080" y="1719000"/>
            <a:ext cx="1919160" cy="254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2F60D4"/>
                </a:solidFill>
                <a:effectLst/>
                <a:uFillTx/>
                <a:latin typeface="Malgun Gothic"/>
                <a:ea typeface="Malgun Gothic"/>
              </a:rPr>
              <a:t>0.802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41" name="Shape 10"/>
          <p:cNvSpPr/>
          <p:nvPr/>
        </p:nvSpPr>
        <p:spPr>
          <a:xfrm>
            <a:off x="7452360" y="1325880"/>
            <a:ext cx="1919160" cy="100476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C9D4EA"/>
            </a:solidFill>
            <a:round/>
          </a:ln>
          <a:effectLst>
            <a:outerShdw blurRad="19080" dist="9673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42" name="Text 11"/>
          <p:cNvSpPr/>
          <p:nvPr/>
        </p:nvSpPr>
        <p:spPr>
          <a:xfrm>
            <a:off x="7452360" y="1481400"/>
            <a:ext cx="1919160" cy="163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5E6B86"/>
                </a:solidFill>
                <a:effectLst/>
                <a:uFillTx/>
                <a:latin typeface="Malgun Gothic"/>
                <a:ea typeface="Malgun Gothic"/>
              </a:rPr>
              <a:t>F1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43" name="Text 12"/>
          <p:cNvSpPr/>
          <p:nvPr/>
        </p:nvSpPr>
        <p:spPr>
          <a:xfrm>
            <a:off x="7452360" y="1719000"/>
            <a:ext cx="1919160" cy="254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2F60D4"/>
                </a:solidFill>
                <a:effectLst/>
                <a:uFillTx/>
                <a:latin typeface="Malgun Gothic"/>
                <a:ea typeface="Malgun Gothic"/>
              </a:rPr>
              <a:t>0.777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44" name="Shape 13"/>
          <p:cNvSpPr/>
          <p:nvPr/>
        </p:nvSpPr>
        <p:spPr>
          <a:xfrm>
            <a:off x="9692640" y="1325880"/>
            <a:ext cx="1919160" cy="100476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C9D4EA"/>
            </a:solidFill>
            <a:round/>
          </a:ln>
          <a:effectLst>
            <a:outerShdw blurRad="19080" dist="9673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45" name="Text 14"/>
          <p:cNvSpPr/>
          <p:nvPr/>
        </p:nvSpPr>
        <p:spPr>
          <a:xfrm>
            <a:off x="9692640" y="1481400"/>
            <a:ext cx="1919160" cy="163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5E6B86"/>
                </a:solidFill>
                <a:effectLst/>
                <a:uFillTx/>
                <a:latin typeface="Malgun Gothic"/>
                <a:ea typeface="Malgun Gothic"/>
              </a:rPr>
              <a:t>ROC AUC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46" name="Text 15"/>
          <p:cNvSpPr/>
          <p:nvPr/>
        </p:nvSpPr>
        <p:spPr>
          <a:xfrm>
            <a:off x="9692640" y="1719000"/>
            <a:ext cx="1919160" cy="254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2F60D4"/>
                </a:solidFill>
                <a:effectLst/>
                <a:uFillTx/>
                <a:latin typeface="Malgun Gothic"/>
                <a:ea typeface="Malgun Gothic"/>
              </a:rPr>
              <a:t>0.860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pic>
        <p:nvPicPr>
          <p:cNvPr id="247" name="Image 0" descr="/mnt/data/confusion_matrix.png"/>
          <p:cNvPicPr/>
          <p:nvPr/>
        </p:nvPicPr>
        <p:blipFill>
          <a:blip r:embed="rId3"/>
          <a:stretch/>
        </p:blipFill>
        <p:spPr>
          <a:xfrm>
            <a:off x="1242720" y="2697480"/>
            <a:ext cx="3777120" cy="3153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48" name="Image 1" descr="/mnt/data/roc_curve.png"/>
          <p:cNvPicPr/>
          <p:nvPr/>
        </p:nvPicPr>
        <p:blipFill>
          <a:blip r:embed="rId4"/>
          <a:stretch/>
        </p:blipFill>
        <p:spPr>
          <a:xfrm>
            <a:off x="6145920" y="2697480"/>
            <a:ext cx="4760640" cy="3153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9" name="Text 16"/>
          <p:cNvSpPr/>
          <p:nvPr/>
        </p:nvSpPr>
        <p:spPr>
          <a:xfrm>
            <a:off x="1920240" y="5961960"/>
            <a:ext cx="2284920" cy="136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5E6B86"/>
                </a:solidFill>
                <a:effectLst/>
                <a:uFillTx/>
                <a:latin typeface="Malgun Gothic"/>
                <a:ea typeface="Malgun Gothic"/>
              </a:rPr>
              <a:t>Confusion Matrix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50" name="Text 17"/>
          <p:cNvSpPr/>
          <p:nvPr/>
        </p:nvSpPr>
        <p:spPr>
          <a:xfrm>
            <a:off x="7315200" y="5961960"/>
            <a:ext cx="2284920" cy="136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5E6B86"/>
                </a:solidFill>
                <a:effectLst/>
                <a:uFillTx/>
                <a:latin typeface="Malgun Gothic"/>
                <a:ea typeface="Malgun Gothic"/>
              </a:rPr>
              <a:t>ROC Curve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51" name="PlaceHolder 1"/>
          <p:cNvSpPr>
            <a:spLocks noGrp="1"/>
          </p:cNvSpPr>
          <p:nvPr>
            <p:ph type="sldNum" idx="13"/>
          </p:nvPr>
        </p:nvSpPr>
        <p:spPr>
          <a:xfrm>
            <a:off x="11109960" y="6428160"/>
            <a:ext cx="456120" cy="200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800" b="0" u="none" strike="noStrike">
                <a:solidFill>
                  <a:srgbClr val="5E6B86"/>
                </a:solidFill>
                <a:effectLst/>
                <a:uFillTx/>
                <a:latin typeface="Malgun Gothic"/>
                <a:ea typeface="Malgun Gothic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756B2DD-725E-4E29-993D-837F89EA6BFE}" type="slidenum">
              <a:rPr lang="en-US" sz="800" b="0" u="none" strike="noStrike">
                <a:solidFill>
                  <a:srgbClr val="5E6B86"/>
                </a:solidFill>
                <a:effectLst/>
                <a:uFillTx/>
                <a:latin typeface="Malgun Gothic"/>
                <a:ea typeface="Malgun Gothic"/>
              </a:rPr>
              <a:t>8</a:t>
            </a:fld>
            <a:endParaRPr lang="en-US" sz="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Text 0"/>
          <p:cNvSpPr/>
          <p:nvPr/>
        </p:nvSpPr>
        <p:spPr>
          <a:xfrm>
            <a:off x="502920" y="640080"/>
            <a:ext cx="5119560" cy="410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1A1A1A"/>
                </a:solidFill>
                <a:effectLst/>
                <a:uFillTx/>
                <a:latin typeface="Malgun Gothic"/>
                <a:ea typeface="Malgun Gothic"/>
              </a:rPr>
              <a:t>7. </a:t>
            </a:r>
            <a:r>
              <a:rPr lang="ko-KR" sz="2200" b="1" u="none" strike="noStrike">
                <a:solidFill>
                  <a:srgbClr val="1A1A1A"/>
                </a:solidFill>
                <a:effectLst/>
                <a:uFillTx/>
                <a:latin typeface="Malgun Gothic"/>
                <a:ea typeface="Malgun Gothic"/>
              </a:rPr>
              <a:t>주요 결과물 – 예측 패턴 시각화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pic>
        <p:nvPicPr>
          <p:cNvPr id="253" name="Image 0" descr="/mnt/data/actual_vs_predicted.png"/>
          <p:cNvPicPr/>
          <p:nvPr/>
        </p:nvPicPr>
        <p:blipFill>
          <a:blip r:embed="rId3"/>
          <a:stretch/>
        </p:blipFill>
        <p:spPr>
          <a:xfrm>
            <a:off x="749880" y="1575000"/>
            <a:ext cx="5576760" cy="1832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54" name="Image 1" descr="/mnt/data/training_history.png"/>
          <p:cNvPicPr/>
          <p:nvPr/>
        </p:nvPicPr>
        <p:blipFill>
          <a:blip r:embed="rId4"/>
          <a:stretch/>
        </p:blipFill>
        <p:spPr>
          <a:xfrm>
            <a:off x="6536880" y="1325880"/>
            <a:ext cx="4709880" cy="2330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5" name="Text 1"/>
          <p:cNvSpPr/>
          <p:nvPr/>
        </p:nvSpPr>
        <p:spPr>
          <a:xfrm>
            <a:off x="1600200" y="3675960"/>
            <a:ext cx="3747960" cy="136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5E6B86"/>
                </a:solidFill>
                <a:effectLst/>
                <a:uFillTx/>
                <a:latin typeface="Malgun Gothic"/>
                <a:ea typeface="Malgun Gothic"/>
              </a:rPr>
              <a:t>Actual vs Predicted (Top 120 Test Samples)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56" name="Text 2"/>
          <p:cNvSpPr/>
          <p:nvPr/>
        </p:nvSpPr>
        <p:spPr>
          <a:xfrm>
            <a:off x="8183880" y="3675960"/>
            <a:ext cx="1736280" cy="136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5E6B86"/>
                </a:solidFill>
                <a:effectLst/>
                <a:uFillTx/>
                <a:latin typeface="Malgun Gothic"/>
                <a:ea typeface="Malgun Gothic"/>
              </a:rPr>
              <a:t>Training History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pic>
        <p:nvPicPr>
          <p:cNvPr id="257" name="Image 2" descr="/mnt/data/probability_distribution.png"/>
          <p:cNvPicPr/>
          <p:nvPr/>
        </p:nvPicPr>
        <p:blipFill>
          <a:blip r:embed="rId5"/>
          <a:stretch/>
        </p:blipFill>
        <p:spPr>
          <a:xfrm>
            <a:off x="1832400" y="4069080"/>
            <a:ext cx="2552400" cy="1690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8" name="Shape 3"/>
          <p:cNvSpPr/>
          <p:nvPr/>
        </p:nvSpPr>
        <p:spPr>
          <a:xfrm>
            <a:off x="5806440" y="4005000"/>
            <a:ext cx="5439600" cy="178200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D8DF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59" name="Text 4"/>
          <p:cNvSpPr/>
          <p:nvPr/>
        </p:nvSpPr>
        <p:spPr>
          <a:xfrm>
            <a:off x="6035040" y="4187880"/>
            <a:ext cx="1279080" cy="200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500" b="1" u="none" strike="noStrike">
                <a:solidFill>
                  <a:srgbClr val="23304D"/>
                </a:solidFill>
                <a:effectLst/>
                <a:uFillTx/>
                <a:latin typeface="Malgun Gothic"/>
                <a:ea typeface="Malgun Gothic"/>
              </a:rPr>
              <a:t>해석 포인트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60" name="Text 5"/>
          <p:cNvSpPr/>
          <p:nvPr/>
        </p:nvSpPr>
        <p:spPr>
          <a:xfrm>
            <a:off x="6053400" y="4498920"/>
            <a:ext cx="4753800" cy="1004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177840" indent="-177840" defTabSz="914400">
              <a:lnSpc>
                <a:spcPct val="100000"/>
              </a:lnSpc>
              <a:buClr>
                <a:srgbClr val="333333"/>
              </a:buClr>
              <a:buFont typeface="Symbol" charset="2"/>
              <a:buChar char=""/>
            </a:pPr>
            <a:r>
              <a:rPr lang="en-US" sz="1150" b="0" u="none" strike="noStrike" dirty="0">
                <a:solidFill>
                  <a:srgbClr val="333333"/>
                </a:solidFill>
                <a:effectLst/>
                <a:uFillTx/>
                <a:latin typeface="Malgun Gothic"/>
                <a:ea typeface="Malgun Gothic"/>
              </a:rPr>
              <a:t>ROC AUC 0.860 </a:t>
            </a:r>
            <a:r>
              <a:rPr lang="ko-KR" sz="1150" b="0" u="none" strike="noStrike" dirty="0">
                <a:solidFill>
                  <a:srgbClr val="333333"/>
                </a:solidFill>
                <a:effectLst/>
                <a:uFillTx/>
                <a:latin typeface="Malgun Gothic"/>
                <a:ea typeface="Malgun Gothic"/>
              </a:rPr>
              <a:t>수준으로</a:t>
            </a:r>
            <a:r>
              <a:rPr lang="en-US" altLang="ko-KR" sz="1150" b="0" u="none" strike="noStrike" dirty="0">
                <a:solidFill>
                  <a:srgbClr val="333333"/>
                </a:solidFill>
                <a:effectLst/>
                <a:uFillTx/>
                <a:latin typeface="Malgun Gothic"/>
                <a:ea typeface="Malgun Gothic"/>
              </a:rPr>
              <a:t> </a:t>
            </a:r>
            <a:r>
              <a:rPr lang="ko-KR" altLang="en-US" sz="1150" b="0" u="none" strike="noStrike">
                <a:solidFill>
                  <a:srgbClr val="333333"/>
                </a:solidFill>
                <a:effectLst/>
                <a:uFillTx/>
                <a:latin typeface="Malgun Gothic"/>
                <a:ea typeface="Malgun Gothic"/>
              </a:rPr>
              <a:t>클래스 구분</a:t>
            </a:r>
            <a:r>
              <a:rPr lang="ko-KR" sz="1150" b="0" u="none" strike="noStrike">
                <a:solidFill>
                  <a:srgbClr val="333333"/>
                </a:solidFill>
                <a:effectLst/>
                <a:uFillTx/>
                <a:latin typeface="Malgun Gothic"/>
                <a:ea typeface="Malgun Gothic"/>
              </a:rPr>
              <a:t> 성능</a:t>
            </a:r>
            <a:r>
              <a:rPr lang="ko-KR" altLang="en-US" sz="1150" b="0" u="none" strike="noStrike">
                <a:solidFill>
                  <a:srgbClr val="333333"/>
                </a:solidFill>
                <a:effectLst/>
                <a:uFillTx/>
                <a:latin typeface="Malgun Gothic"/>
                <a:ea typeface="Malgun Gothic"/>
              </a:rPr>
              <a:t>을</a:t>
            </a:r>
            <a:r>
              <a:rPr lang="ko-KR" sz="1150" b="0" u="none" strike="noStrike">
                <a:solidFill>
                  <a:srgbClr val="333333"/>
                </a:solidFill>
                <a:effectLst/>
                <a:uFillTx/>
                <a:latin typeface="Malgun Gothic"/>
                <a:ea typeface="Malgun Gothic"/>
              </a:rPr>
              <a:t> </a:t>
            </a:r>
            <a:r>
              <a:rPr lang="ko-KR" altLang="en-US" sz="1150" b="0" u="none" strike="noStrike" dirty="0">
                <a:solidFill>
                  <a:srgbClr val="333333"/>
                </a:solidFill>
                <a:effectLst/>
                <a:uFillTx/>
                <a:latin typeface="Malgun Gothic"/>
                <a:ea typeface="Malgun Gothic"/>
              </a:rPr>
              <a:t>확인</a:t>
            </a:r>
            <a:endParaRPr lang="en-US" sz="1150" b="0" u="none" strike="noStrike" dirty="0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333333"/>
              </a:buClr>
              <a:buFont typeface="Symbol" charset="2"/>
              <a:buChar char=""/>
            </a:pPr>
            <a:r>
              <a:rPr lang="en-US" sz="1150" b="0" u="none" strike="noStrike" dirty="0">
                <a:solidFill>
                  <a:srgbClr val="333333"/>
                </a:solidFill>
                <a:effectLst/>
                <a:uFillTx/>
                <a:latin typeface="Malgun Gothic"/>
                <a:ea typeface="Malgun Gothic"/>
              </a:rPr>
              <a:t>Actual vs Predicted </a:t>
            </a:r>
            <a:r>
              <a:rPr lang="ko-KR" sz="1150" b="0" u="none" strike="noStrike" dirty="0">
                <a:solidFill>
                  <a:srgbClr val="333333"/>
                </a:solidFill>
                <a:effectLst/>
                <a:uFillTx/>
                <a:latin typeface="Malgun Gothic"/>
                <a:ea typeface="Malgun Gothic"/>
              </a:rPr>
              <a:t>그래프에서 다수 구간이 실제 라벨과 유사하게 추종</a:t>
            </a:r>
            <a:endParaRPr lang="en-US" sz="1150" b="0" u="none" strike="noStrike" dirty="0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333333"/>
              </a:buClr>
              <a:buFont typeface="Symbol" charset="2"/>
              <a:buChar char=""/>
            </a:pPr>
            <a:r>
              <a:rPr lang="ko-KR" sz="1150" b="0" u="none" strike="noStrike" dirty="0">
                <a:solidFill>
                  <a:srgbClr val="333333"/>
                </a:solidFill>
                <a:effectLst/>
                <a:uFillTx/>
                <a:latin typeface="Malgun Gothic"/>
                <a:ea typeface="Malgun Gothic"/>
              </a:rPr>
              <a:t>예측 확률 분포가 </a:t>
            </a:r>
            <a:r>
              <a:rPr lang="en-US" sz="1150" b="0" u="none" strike="noStrike" dirty="0">
                <a:solidFill>
                  <a:srgbClr val="333333"/>
                </a:solidFill>
                <a:effectLst/>
                <a:uFillTx/>
                <a:latin typeface="Malgun Gothic"/>
                <a:ea typeface="Malgun Gothic"/>
              </a:rPr>
              <a:t>0.41~0.55 </a:t>
            </a:r>
            <a:r>
              <a:rPr lang="ko-KR" sz="1150" b="0" u="none" strike="noStrike" dirty="0">
                <a:solidFill>
                  <a:srgbClr val="333333"/>
                </a:solidFill>
                <a:effectLst/>
                <a:uFillTx/>
                <a:latin typeface="Malgun Gothic"/>
                <a:ea typeface="Malgun Gothic"/>
              </a:rPr>
              <a:t>구간에 집중되어 </a:t>
            </a:r>
            <a:r>
              <a:rPr lang="ko-KR" sz="1150" b="0" u="none" strike="noStrike" dirty="0" err="1">
                <a:solidFill>
                  <a:srgbClr val="333333"/>
                </a:solidFill>
                <a:effectLst/>
                <a:uFillTx/>
                <a:latin typeface="Malgun Gothic"/>
                <a:ea typeface="Malgun Gothic"/>
              </a:rPr>
              <a:t>임계값</a:t>
            </a:r>
            <a:r>
              <a:rPr lang="ko-KR" sz="1150" b="0" u="none" strike="noStrike" dirty="0">
                <a:solidFill>
                  <a:srgbClr val="333333"/>
                </a:solidFill>
                <a:effectLst/>
                <a:uFillTx/>
                <a:latin typeface="Malgun Gothic"/>
                <a:ea typeface="Malgun Gothic"/>
              </a:rPr>
              <a:t> 조정 여지 존재</a:t>
            </a:r>
            <a:endParaRPr lang="en-US" sz="1150" b="0" u="none" strike="noStrike" dirty="0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61" name="PlaceHolder 7"/>
          <p:cNvSpPr txBox="1"/>
          <p:nvPr/>
        </p:nvSpPr>
        <p:spPr>
          <a:xfrm>
            <a:off x="11110320" y="6428160"/>
            <a:ext cx="456120" cy="200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fld id="{639A806B-670A-42FC-87F4-D10CC0E2656B}" type="slidenum">
              <a:rPr lang="en-US" sz="800" b="0" u="none" strike="noStrike">
                <a:solidFill>
                  <a:srgbClr val="5E6B86"/>
                </a:solidFill>
                <a:effectLst/>
                <a:uFillTx/>
                <a:latin typeface="Malgun Gothic"/>
                <a:ea typeface="Malgun Gothic"/>
              </a:rPr>
              <a:t>9</a:t>
            </a:fld>
            <a:endParaRPr lang="en-US" sz="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Text 0"/>
          <p:cNvSpPr/>
          <p:nvPr/>
        </p:nvSpPr>
        <p:spPr>
          <a:xfrm>
            <a:off x="502920" y="640080"/>
            <a:ext cx="5119560" cy="410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1A1A1A"/>
                </a:solidFill>
                <a:effectLst/>
                <a:uFillTx/>
                <a:latin typeface="Malgun Gothic"/>
                <a:ea typeface="Malgun Gothic"/>
              </a:rPr>
              <a:t>8. </a:t>
            </a:r>
            <a:r>
              <a:rPr lang="ko-KR" sz="2200" b="1" u="none" strike="noStrike">
                <a:solidFill>
                  <a:srgbClr val="1A1A1A"/>
                </a:solidFill>
                <a:effectLst/>
                <a:uFillTx/>
                <a:latin typeface="Malgun Gothic"/>
                <a:ea typeface="Malgun Gothic"/>
              </a:rPr>
              <a:t>오분류 사례 및 한계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63" name="Shape 1"/>
          <p:cNvSpPr/>
          <p:nvPr/>
        </p:nvSpPr>
        <p:spPr>
          <a:xfrm>
            <a:off x="731520" y="1325880"/>
            <a:ext cx="2102040" cy="1004760"/>
          </a:xfrm>
          <a:prstGeom prst="roundRect">
            <a:avLst>
              <a:gd name="adj" fmla="val 4545"/>
            </a:avLst>
          </a:prstGeom>
          <a:solidFill>
            <a:srgbClr val="FFF5F5"/>
          </a:solidFill>
          <a:ln w="12700">
            <a:solidFill>
              <a:srgbClr val="E4B8B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64" name="Text 2"/>
          <p:cNvSpPr/>
          <p:nvPr/>
        </p:nvSpPr>
        <p:spPr>
          <a:xfrm>
            <a:off x="731520" y="1581840"/>
            <a:ext cx="2102040" cy="410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C54545"/>
                </a:solidFill>
                <a:effectLst/>
                <a:uFillTx/>
                <a:latin typeface="Malgun Gothic"/>
                <a:ea typeface="Malgun Gothic"/>
              </a:rPr>
              <a:t>False Positive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C54545"/>
                </a:solidFill>
                <a:effectLst/>
                <a:uFillTx/>
                <a:latin typeface="Malgun Gothic"/>
                <a:ea typeface="Malgun Gothic"/>
              </a:rPr>
              <a:t>64</a:t>
            </a:r>
            <a:r>
              <a:rPr lang="ko-KR" sz="2200" b="1" u="none" strike="noStrike">
                <a:solidFill>
                  <a:srgbClr val="C54545"/>
                </a:solidFill>
                <a:effectLst/>
                <a:uFillTx/>
                <a:latin typeface="Malgun Gothic"/>
                <a:ea typeface="Malgun Gothic"/>
              </a:rPr>
              <a:t>건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65" name="Shape 3"/>
          <p:cNvSpPr/>
          <p:nvPr/>
        </p:nvSpPr>
        <p:spPr>
          <a:xfrm>
            <a:off x="3063240" y="1325880"/>
            <a:ext cx="2102040" cy="1004760"/>
          </a:xfrm>
          <a:prstGeom prst="roundRect">
            <a:avLst>
              <a:gd name="adj" fmla="val 4545"/>
            </a:avLst>
          </a:prstGeom>
          <a:solidFill>
            <a:srgbClr val="EEF4FF"/>
          </a:solidFill>
          <a:ln w="12700">
            <a:solidFill>
              <a:srgbClr val="B8C8E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66" name="Text 4"/>
          <p:cNvSpPr/>
          <p:nvPr/>
        </p:nvSpPr>
        <p:spPr>
          <a:xfrm>
            <a:off x="3063240" y="1581840"/>
            <a:ext cx="2102040" cy="410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2F60D4"/>
                </a:solidFill>
                <a:effectLst/>
                <a:uFillTx/>
                <a:latin typeface="Malgun Gothic"/>
                <a:ea typeface="Malgun Gothic"/>
              </a:rPr>
              <a:t>False Negative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2F60D4"/>
                </a:solidFill>
                <a:effectLst/>
                <a:uFillTx/>
                <a:latin typeface="Malgun Gothic"/>
                <a:ea typeface="Malgun Gothic"/>
              </a:rPr>
              <a:t>48</a:t>
            </a:r>
            <a:r>
              <a:rPr lang="ko-KR" sz="2200" b="1" u="none" strike="noStrike">
                <a:solidFill>
                  <a:srgbClr val="2F60D4"/>
                </a:solidFill>
                <a:effectLst/>
                <a:uFillTx/>
                <a:latin typeface="Malgun Gothic"/>
                <a:ea typeface="Malgun Gothic"/>
              </a:rPr>
              <a:t>건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67" name="Shape 5"/>
          <p:cNvSpPr/>
          <p:nvPr/>
        </p:nvSpPr>
        <p:spPr>
          <a:xfrm>
            <a:off x="731520" y="2651760"/>
            <a:ext cx="5028120" cy="315360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 w="12700">
            <a:solidFill>
              <a:srgbClr val="D7DEEA"/>
            </a:solidFill>
            <a:round/>
          </a:ln>
          <a:effectLst>
            <a:outerShdw blurRad="25560" dist="12218" dir="27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68" name="Shape 6"/>
          <p:cNvSpPr/>
          <p:nvPr/>
        </p:nvSpPr>
        <p:spPr>
          <a:xfrm>
            <a:off x="868680" y="2816280"/>
            <a:ext cx="108720" cy="291600"/>
          </a:xfrm>
          <a:prstGeom prst="roundRect">
            <a:avLst>
              <a:gd name="adj" fmla="val 33333"/>
            </a:avLst>
          </a:prstGeom>
          <a:solidFill>
            <a:srgbClr val="F3C53F"/>
          </a:solidFill>
          <a:ln w="12700">
            <a:solidFill>
              <a:srgbClr val="F3C53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4360" tIns="45000" rIns="5436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69" name="Text 7"/>
          <p:cNvSpPr/>
          <p:nvPr/>
        </p:nvSpPr>
        <p:spPr>
          <a:xfrm>
            <a:off x="1024200" y="2779920"/>
            <a:ext cx="4616640" cy="254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600" b="1" u="none" strike="noStrike">
                <a:solidFill>
                  <a:srgbClr val="1F2B4D"/>
                </a:solidFill>
                <a:effectLst/>
                <a:uFillTx/>
                <a:latin typeface="Malgun Gothic"/>
                <a:ea typeface="Malgun Gothic"/>
              </a:rPr>
              <a:t>주요 오분류 양상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70" name="Text 8"/>
          <p:cNvSpPr/>
          <p:nvPr/>
        </p:nvSpPr>
        <p:spPr>
          <a:xfrm>
            <a:off x="987480" y="3127320"/>
            <a:ext cx="4662360" cy="258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Autofit/>
          </a:bodyPr>
          <a:lstStyle/>
          <a:p>
            <a:pPr marL="177840" indent="-177840" defTabSz="914400">
              <a:lnSpc>
                <a:spcPct val="100000"/>
              </a:lnSpc>
              <a:buClr>
                <a:srgbClr val="333333"/>
              </a:buClr>
              <a:buFont typeface="Symbol" charset="2"/>
              <a:buChar char=""/>
            </a:pPr>
            <a:r>
              <a:rPr lang="ko-KR" sz="1150" b="0" u="none" strike="noStrike">
                <a:solidFill>
                  <a:srgbClr val="333333"/>
                </a:solidFill>
                <a:effectLst/>
                <a:uFillTx/>
                <a:latin typeface="Malgun Gothic"/>
                <a:ea typeface="Malgun Gothic"/>
              </a:rPr>
              <a:t>정치</a:t>
            </a:r>
            <a:r>
              <a:rPr lang="en-US" sz="1150" b="0" u="none" strike="noStrike">
                <a:solidFill>
                  <a:srgbClr val="333333"/>
                </a:solidFill>
                <a:effectLst/>
                <a:uFillTx/>
                <a:latin typeface="Malgun Gothic"/>
                <a:ea typeface="Malgun Gothic"/>
              </a:rPr>
              <a:t>·</a:t>
            </a:r>
            <a:r>
              <a:rPr lang="ko-KR" sz="1150" b="0" u="none" strike="noStrike">
                <a:solidFill>
                  <a:srgbClr val="333333"/>
                </a:solidFill>
                <a:effectLst/>
                <a:uFillTx/>
                <a:latin typeface="Malgun Gothic"/>
                <a:ea typeface="Malgun Gothic"/>
              </a:rPr>
              <a:t>사회 이슈를 포함하지만 직접 공격으로 보기 어려운 문장을 </a:t>
            </a:r>
            <a:r>
              <a:rPr lang="en-US" sz="1150" b="0" u="none" strike="noStrike">
                <a:solidFill>
                  <a:srgbClr val="333333"/>
                </a:solidFill>
                <a:effectLst/>
                <a:uFillTx/>
                <a:latin typeface="Malgun Gothic"/>
                <a:ea typeface="Malgun Gothic"/>
              </a:rPr>
              <a:t>toxic</a:t>
            </a:r>
            <a:r>
              <a:rPr lang="ko-KR" sz="1150" b="0" u="none" strike="noStrike">
                <a:solidFill>
                  <a:srgbClr val="333333"/>
                </a:solidFill>
                <a:effectLst/>
                <a:uFillTx/>
                <a:latin typeface="Malgun Gothic"/>
                <a:ea typeface="Malgun Gothic"/>
              </a:rPr>
              <a:t>으로 과검출하는 경우가 존재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333333"/>
              </a:buClr>
              <a:buFont typeface="Symbol" charset="2"/>
              <a:buChar char=""/>
            </a:pPr>
            <a:r>
              <a:rPr lang="ko-KR" sz="1150" b="0" u="none" strike="noStrike">
                <a:solidFill>
                  <a:srgbClr val="333333"/>
                </a:solidFill>
                <a:effectLst/>
                <a:uFillTx/>
                <a:latin typeface="Malgun Gothic"/>
                <a:ea typeface="Malgun Gothic"/>
              </a:rPr>
              <a:t>짧거나 은어가 포함된 문장</a:t>
            </a:r>
            <a:r>
              <a:rPr lang="en-US" sz="1150" b="0" u="none" strike="noStrike">
                <a:solidFill>
                  <a:srgbClr val="333333"/>
                </a:solidFill>
                <a:effectLst/>
                <a:uFillTx/>
                <a:latin typeface="Malgun Gothic"/>
                <a:ea typeface="Malgun Gothic"/>
              </a:rPr>
              <a:t>, </a:t>
            </a:r>
            <a:r>
              <a:rPr lang="ko-KR" sz="1150" b="0" u="none" strike="noStrike">
                <a:solidFill>
                  <a:srgbClr val="333333"/>
                </a:solidFill>
                <a:effectLst/>
                <a:uFillTx/>
                <a:latin typeface="Malgun Gothic"/>
                <a:ea typeface="Malgun Gothic"/>
              </a:rPr>
              <a:t>맥락 의존적 표현에서 </a:t>
            </a:r>
            <a:r>
              <a:rPr lang="en-US" sz="1150" b="0" u="none" strike="noStrike">
                <a:solidFill>
                  <a:srgbClr val="333333"/>
                </a:solidFill>
                <a:effectLst/>
                <a:uFillTx/>
                <a:latin typeface="Malgun Gothic"/>
                <a:ea typeface="Malgun Gothic"/>
              </a:rPr>
              <a:t>toxic</a:t>
            </a:r>
            <a:r>
              <a:rPr lang="ko-KR" sz="1150" b="0" u="none" strike="noStrike">
                <a:solidFill>
                  <a:srgbClr val="333333"/>
                </a:solidFill>
                <a:effectLst/>
                <a:uFillTx/>
                <a:latin typeface="Malgun Gothic"/>
                <a:ea typeface="Malgun Gothic"/>
              </a:rPr>
              <a:t>를 </a:t>
            </a:r>
            <a:r>
              <a:rPr lang="en-US" sz="1150" b="0" u="none" strike="noStrike">
                <a:solidFill>
                  <a:srgbClr val="333333"/>
                </a:solidFill>
                <a:effectLst/>
                <a:uFillTx/>
                <a:latin typeface="Malgun Gothic"/>
                <a:ea typeface="Malgun Gothic"/>
              </a:rPr>
              <a:t>normal</a:t>
            </a:r>
            <a:r>
              <a:rPr lang="ko-KR" sz="1150" b="0" u="none" strike="noStrike">
                <a:solidFill>
                  <a:srgbClr val="333333"/>
                </a:solidFill>
                <a:effectLst/>
                <a:uFillTx/>
                <a:latin typeface="Malgun Gothic"/>
                <a:ea typeface="Malgun Gothic"/>
              </a:rPr>
              <a:t>로 놓치는 경우가 존재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333333"/>
              </a:buClr>
              <a:buFont typeface="Symbol" charset="2"/>
              <a:buChar char=""/>
            </a:pPr>
            <a:r>
              <a:rPr lang="ko-KR" sz="1150" b="0" u="none" strike="noStrike">
                <a:solidFill>
                  <a:srgbClr val="333333"/>
                </a:solidFill>
                <a:effectLst/>
                <a:uFillTx/>
                <a:latin typeface="Malgun Gothic"/>
                <a:ea typeface="Malgun Gothic"/>
              </a:rPr>
              <a:t>명시적 욕설보다 암시적 비하</a:t>
            </a:r>
            <a:r>
              <a:rPr lang="en-US" sz="1150" b="0" u="none" strike="noStrike">
                <a:solidFill>
                  <a:srgbClr val="333333"/>
                </a:solidFill>
                <a:effectLst/>
                <a:uFillTx/>
                <a:latin typeface="Malgun Gothic"/>
                <a:ea typeface="Malgun Gothic"/>
              </a:rPr>
              <a:t>·</a:t>
            </a:r>
            <a:r>
              <a:rPr lang="ko-KR" sz="1150" b="0" u="none" strike="noStrike">
                <a:solidFill>
                  <a:srgbClr val="333333"/>
                </a:solidFill>
                <a:effectLst/>
                <a:uFillTx/>
                <a:latin typeface="Malgun Gothic"/>
                <a:ea typeface="Malgun Gothic"/>
              </a:rPr>
              <a:t>비꼼 표현에서 판단이 더 어려움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71" name="Shape 9"/>
          <p:cNvSpPr/>
          <p:nvPr/>
        </p:nvSpPr>
        <p:spPr>
          <a:xfrm>
            <a:off x="6035040" y="1325880"/>
            <a:ext cx="5073840" cy="4570920"/>
          </a:xfrm>
          <a:prstGeom prst="roundRect">
            <a:avLst>
              <a:gd name="adj" fmla="val 1000"/>
            </a:avLst>
          </a:prstGeom>
          <a:solidFill>
            <a:srgbClr val="FFFFFF"/>
          </a:solidFill>
          <a:ln w="12700">
            <a:solidFill>
              <a:srgbClr val="D8DF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72" name="Text 10"/>
          <p:cNvSpPr/>
          <p:nvPr/>
        </p:nvSpPr>
        <p:spPr>
          <a:xfrm>
            <a:off x="6263640" y="1536120"/>
            <a:ext cx="1644840" cy="200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500" b="1" u="none" strike="noStrike">
                <a:solidFill>
                  <a:srgbClr val="23304D"/>
                </a:solidFill>
                <a:effectLst/>
                <a:uFillTx/>
                <a:latin typeface="Malgun Gothic"/>
                <a:ea typeface="Malgun Gothic"/>
              </a:rPr>
              <a:t>실제 오분류 예시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73" name="Text 11"/>
          <p:cNvSpPr/>
          <p:nvPr/>
        </p:nvSpPr>
        <p:spPr>
          <a:xfrm>
            <a:off x="6309360" y="1938600"/>
            <a:ext cx="4570920" cy="867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333333"/>
                </a:solidFill>
                <a:effectLst/>
                <a:uFillTx/>
                <a:latin typeface="Malgun Gothic"/>
                <a:ea typeface="Malgun Gothic"/>
              </a:rPr>
              <a:t>FP </a:t>
            </a:r>
            <a:r>
              <a:rPr lang="ko-KR" sz="1200" b="0" u="none" strike="noStrike">
                <a:solidFill>
                  <a:srgbClr val="333333"/>
                </a:solidFill>
                <a:effectLst/>
                <a:uFillTx/>
                <a:latin typeface="Malgun Gothic"/>
                <a:ea typeface="Malgun Gothic"/>
              </a:rPr>
              <a:t>예시</a:t>
            </a:r>
            <a:r>
              <a:rPr lang="en-US" sz="1200" b="0" u="none" strike="noStrike">
                <a:solidFill>
                  <a:srgbClr val="333333"/>
                </a:solidFill>
                <a:effectLst/>
                <a:uFillTx/>
                <a:latin typeface="Malgun Gothic"/>
                <a:ea typeface="Malgun Gothic"/>
              </a:rPr>
              <a:t>: "</a:t>
            </a:r>
            <a:r>
              <a:rPr lang="ko-KR" sz="1200" b="0" u="none" strike="noStrike">
                <a:solidFill>
                  <a:srgbClr val="333333"/>
                </a:solidFill>
                <a:effectLst/>
                <a:uFillTx/>
                <a:latin typeface="Malgun Gothic"/>
                <a:ea typeface="Malgun Gothic"/>
              </a:rPr>
              <a:t>뭔소린지 하나도 모르겠다 </a:t>
            </a:r>
            <a:r>
              <a:rPr lang="en-US" sz="1200" b="0" u="none" strike="noStrike">
                <a:solidFill>
                  <a:srgbClr val="333333"/>
                </a:solidFill>
                <a:effectLst/>
                <a:uFillTx/>
                <a:latin typeface="Malgun Gothic"/>
                <a:ea typeface="Malgun Gothic"/>
              </a:rPr>
              <a:t>;;;"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333333"/>
                </a:solidFill>
                <a:effectLst/>
                <a:uFillTx/>
                <a:latin typeface="Malgun Gothic"/>
                <a:ea typeface="Malgun Gothic"/>
              </a:rPr>
              <a:t>→ 공격성이 약한 비판 문장도 toxic</a:t>
            </a:r>
            <a:r>
              <a:rPr lang="ko-KR" sz="1200" b="0" u="none" strike="noStrike">
                <a:solidFill>
                  <a:srgbClr val="333333"/>
                </a:solidFill>
                <a:effectLst/>
                <a:uFillTx/>
                <a:latin typeface="Malgun Gothic"/>
                <a:ea typeface="Malgun Gothic"/>
              </a:rPr>
              <a:t>로 예측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74" name="Text 12"/>
          <p:cNvSpPr/>
          <p:nvPr/>
        </p:nvSpPr>
        <p:spPr>
          <a:xfrm>
            <a:off x="6309360" y="3063240"/>
            <a:ext cx="4570920" cy="1004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333333"/>
                </a:solidFill>
                <a:effectLst/>
                <a:uFillTx/>
                <a:latin typeface="Malgun Gothic"/>
                <a:ea typeface="Malgun Gothic"/>
              </a:rPr>
              <a:t>FN </a:t>
            </a:r>
            <a:r>
              <a:rPr lang="ko-KR" sz="1200" b="0" u="none" strike="noStrike">
                <a:solidFill>
                  <a:srgbClr val="333333"/>
                </a:solidFill>
                <a:effectLst/>
                <a:uFillTx/>
                <a:latin typeface="Malgun Gothic"/>
                <a:ea typeface="Malgun Gothic"/>
              </a:rPr>
              <a:t>예시</a:t>
            </a:r>
            <a:r>
              <a:rPr lang="en-US" sz="1200" b="0" u="none" strike="noStrike">
                <a:solidFill>
                  <a:srgbClr val="333333"/>
                </a:solidFill>
                <a:effectLst/>
                <a:uFillTx/>
                <a:latin typeface="Malgun Gothic"/>
                <a:ea typeface="Malgun Gothic"/>
              </a:rPr>
              <a:t>: "</a:t>
            </a:r>
            <a:r>
              <a:rPr lang="ko-KR" sz="1200" b="0" u="none" strike="noStrike">
                <a:solidFill>
                  <a:srgbClr val="333333"/>
                </a:solidFill>
                <a:effectLst/>
                <a:uFillTx/>
                <a:latin typeface="Malgun Gothic"/>
                <a:ea typeface="Malgun Gothic"/>
              </a:rPr>
              <a:t>주민번호 </a:t>
            </a:r>
            <a:r>
              <a:rPr lang="en-US" sz="1200" b="0" u="none" strike="noStrike">
                <a:solidFill>
                  <a:srgbClr val="333333"/>
                </a:solidFill>
                <a:effectLst/>
                <a:uFillTx/>
                <a:latin typeface="Malgun Gothic"/>
                <a:ea typeface="Malgun Gothic"/>
              </a:rPr>
              <a:t>t</a:t>
            </a:r>
            <a:r>
              <a:rPr lang="ko-KR" sz="1200" b="0" u="none" strike="noStrike">
                <a:solidFill>
                  <a:srgbClr val="333333"/>
                </a:solidFill>
                <a:effectLst/>
                <a:uFillTx/>
                <a:latin typeface="Malgun Gothic"/>
                <a:ea typeface="Malgun Gothic"/>
              </a:rPr>
              <a:t>로 시작하게해줘 </a:t>
            </a:r>
            <a:r>
              <a:rPr lang="en-US" sz="1200" b="0" u="none" strike="noStrike">
                <a:solidFill>
                  <a:srgbClr val="333333"/>
                </a:solidFill>
                <a:effectLst/>
                <a:uFillTx/>
                <a:latin typeface="Malgun Gothic"/>
                <a:ea typeface="Malgun Gothic"/>
              </a:rPr>
              <a:t>. </a:t>
            </a:r>
            <a:r>
              <a:rPr lang="ko-KR" sz="1200" b="0" u="none" strike="noStrike">
                <a:solidFill>
                  <a:srgbClr val="333333"/>
                </a:solidFill>
                <a:effectLst/>
                <a:uFillTx/>
                <a:latin typeface="Malgun Gothic"/>
                <a:ea typeface="Malgun Gothic"/>
              </a:rPr>
              <a:t>그래도 차별이라고 하겠지 정신병자들</a:t>
            </a:r>
            <a:r>
              <a:rPr lang="en-US" sz="1200" b="0" u="none" strike="noStrike">
                <a:solidFill>
                  <a:srgbClr val="333333"/>
                </a:solidFill>
                <a:effectLst/>
                <a:uFillTx/>
                <a:latin typeface="Malgun Gothic"/>
                <a:ea typeface="Malgun Gothic"/>
              </a:rPr>
              <a:t>"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333333"/>
                </a:solidFill>
                <a:effectLst/>
                <a:uFillTx/>
                <a:latin typeface="Malgun Gothic"/>
                <a:ea typeface="Malgun Gothic"/>
              </a:rPr>
              <a:t>→ 강한 혐오/</a:t>
            </a:r>
            <a:r>
              <a:rPr lang="ko-KR" sz="1200" b="0" u="none" strike="noStrike">
                <a:solidFill>
                  <a:srgbClr val="333333"/>
                </a:solidFill>
                <a:effectLst/>
                <a:uFillTx/>
                <a:latin typeface="Malgun Gothic"/>
                <a:ea typeface="Malgun Gothic"/>
              </a:rPr>
              <a:t>비하 표현이 포함됐지만 </a:t>
            </a:r>
            <a:r>
              <a:rPr lang="en-US" sz="1200" b="0" u="none" strike="noStrike">
                <a:solidFill>
                  <a:srgbClr val="333333"/>
                </a:solidFill>
                <a:effectLst/>
                <a:uFillTx/>
                <a:latin typeface="Malgun Gothic"/>
                <a:ea typeface="Malgun Gothic"/>
              </a:rPr>
              <a:t>normal</a:t>
            </a:r>
            <a:r>
              <a:rPr lang="ko-KR" sz="1200" b="0" u="none" strike="noStrike">
                <a:solidFill>
                  <a:srgbClr val="333333"/>
                </a:solidFill>
                <a:effectLst/>
                <a:uFillTx/>
                <a:latin typeface="Malgun Gothic"/>
                <a:ea typeface="Malgun Gothic"/>
              </a:rPr>
              <a:t>로 누락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75" name="Text 13"/>
          <p:cNvSpPr/>
          <p:nvPr/>
        </p:nvSpPr>
        <p:spPr>
          <a:xfrm>
            <a:off x="6309360" y="4526280"/>
            <a:ext cx="913320" cy="200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400" b="1" u="none" strike="noStrike">
                <a:solidFill>
                  <a:srgbClr val="23304D"/>
                </a:solidFill>
                <a:effectLst/>
                <a:uFillTx/>
                <a:latin typeface="Malgun Gothic"/>
                <a:ea typeface="Malgun Gothic"/>
              </a:rPr>
              <a:t>시사점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76" name="Text 14"/>
          <p:cNvSpPr/>
          <p:nvPr/>
        </p:nvSpPr>
        <p:spPr>
          <a:xfrm>
            <a:off x="6355080" y="4800600"/>
            <a:ext cx="4479480" cy="547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333333"/>
                </a:solidFill>
                <a:effectLst/>
                <a:uFillTx/>
                <a:latin typeface="Malgun Gothic"/>
                <a:ea typeface="Malgun Gothic"/>
              </a:rPr>
              <a:t>• 임계값, </a:t>
            </a:r>
            <a:r>
              <a:rPr lang="ko-KR" sz="1200" b="0" u="none" strike="noStrike">
                <a:solidFill>
                  <a:srgbClr val="333333"/>
                </a:solidFill>
                <a:effectLst/>
                <a:uFillTx/>
                <a:latin typeface="Malgun Gothic"/>
                <a:ea typeface="Malgun Gothic"/>
              </a:rPr>
              <a:t>라벨링 정책</a:t>
            </a:r>
            <a:r>
              <a:rPr lang="en-US" sz="1200" b="0" u="none" strike="noStrike">
                <a:solidFill>
                  <a:srgbClr val="333333"/>
                </a:solidFill>
                <a:effectLst/>
                <a:uFillTx/>
                <a:latin typeface="Malgun Gothic"/>
                <a:ea typeface="Malgun Gothic"/>
              </a:rPr>
              <a:t>, </a:t>
            </a:r>
            <a:r>
              <a:rPr lang="ko-KR" sz="1200" b="0" u="none" strike="noStrike">
                <a:solidFill>
                  <a:srgbClr val="333333"/>
                </a:solidFill>
                <a:effectLst/>
                <a:uFillTx/>
                <a:latin typeface="Malgun Gothic"/>
                <a:ea typeface="Malgun Gothic"/>
              </a:rPr>
              <a:t>도메인별 데이터 보강을 통해 실서비스 정밀도를 추가 개선할 필요가 있음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77" name="PlaceHolder 1"/>
          <p:cNvSpPr>
            <a:spLocks noGrp="1"/>
          </p:cNvSpPr>
          <p:nvPr>
            <p:ph type="sldNum" idx="14"/>
          </p:nvPr>
        </p:nvSpPr>
        <p:spPr>
          <a:xfrm>
            <a:off x="11109960" y="6428160"/>
            <a:ext cx="456120" cy="200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800" b="0" u="none" strike="noStrike">
                <a:solidFill>
                  <a:srgbClr val="5E6B86"/>
                </a:solidFill>
                <a:effectLst/>
                <a:uFillTx/>
                <a:latin typeface="Malgun Gothic"/>
                <a:ea typeface="Malgun Gothic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60997A71-0074-4D72-8CEF-326F19816294}" type="slidenum">
              <a:rPr lang="en-US" sz="800" b="0" u="none" strike="noStrike">
                <a:solidFill>
                  <a:srgbClr val="5E6B86"/>
                </a:solidFill>
                <a:effectLst/>
                <a:uFillTx/>
                <a:latin typeface="Malgun Gothic"/>
                <a:ea typeface="Malgun Gothic"/>
              </a:rPr>
              <a:t>10</a:t>
            </a:fld>
            <a:endParaRPr lang="en-US" sz="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Text 94"/>
          <p:cNvSpPr/>
          <p:nvPr/>
        </p:nvSpPr>
        <p:spPr>
          <a:xfrm>
            <a:off x="503280" y="640080"/>
            <a:ext cx="5119560" cy="410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1A1A1A"/>
                </a:solidFill>
                <a:effectLst/>
                <a:uFillTx/>
                <a:latin typeface="Malgun Gothic"/>
                <a:ea typeface="Malgun Gothic"/>
              </a:rPr>
              <a:t>9. </a:t>
            </a:r>
            <a:r>
              <a:rPr lang="ko-KR" sz="2200" b="1" u="none" strike="noStrike">
                <a:solidFill>
                  <a:srgbClr val="1A1A1A"/>
                </a:solidFill>
                <a:effectLst/>
                <a:uFillTx/>
                <a:latin typeface="Malgun Gothic"/>
                <a:ea typeface="Malgun Gothic"/>
              </a:rPr>
              <a:t>활용 방안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79" name="Shape 88"/>
          <p:cNvSpPr/>
          <p:nvPr/>
        </p:nvSpPr>
        <p:spPr>
          <a:xfrm>
            <a:off x="704520" y="1124640"/>
            <a:ext cx="748800" cy="72000"/>
          </a:xfrm>
          <a:prstGeom prst="roundRect">
            <a:avLst>
              <a:gd name="adj" fmla="val 50000"/>
            </a:avLst>
          </a:prstGeom>
          <a:solidFill>
            <a:srgbClr val="4E87D7"/>
          </a:solidFill>
          <a:ln w="12700">
            <a:solidFill>
              <a:srgbClr val="4E87D7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6840" rIns="90000" bIns="684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280" name="Text 95"/>
          <p:cNvSpPr/>
          <p:nvPr/>
        </p:nvSpPr>
        <p:spPr>
          <a:xfrm>
            <a:off x="1554840" y="1024200"/>
            <a:ext cx="9600120" cy="218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100" b="0" u="none" strike="noStrike">
                <a:solidFill>
                  <a:srgbClr val="6C7889"/>
                </a:solidFill>
                <a:effectLst/>
                <a:uFillTx/>
                <a:latin typeface="Noto Sans CJK KR"/>
                <a:ea typeface="Noto Sans CJK KR"/>
              </a:rPr>
              <a:t>실시간 채팅과 커뮤니티 운영으로 확장 가능한 구조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81" name="Shape 89"/>
          <p:cNvSpPr/>
          <p:nvPr/>
        </p:nvSpPr>
        <p:spPr>
          <a:xfrm>
            <a:off x="750240" y="1463040"/>
            <a:ext cx="2815200" cy="1663200"/>
          </a:xfrm>
          <a:prstGeom prst="roundRect">
            <a:avLst>
              <a:gd name="adj" fmla="val 4396"/>
            </a:avLst>
          </a:prstGeom>
          <a:solidFill>
            <a:srgbClr val="EEF4FC"/>
          </a:solidFill>
          <a:ln w="12700">
            <a:solidFill>
              <a:srgbClr val="D7E1EF"/>
            </a:solidFill>
            <a:round/>
          </a:ln>
          <a:effectLst>
            <a:outerShdw blurRad="15120" dist="7127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82" name="Text 96"/>
          <p:cNvSpPr/>
          <p:nvPr/>
        </p:nvSpPr>
        <p:spPr>
          <a:xfrm>
            <a:off x="914760" y="1609200"/>
            <a:ext cx="2486160" cy="218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400" b="1" u="none" strike="noStrike">
                <a:solidFill>
                  <a:srgbClr val="183B72"/>
                </a:solidFill>
                <a:effectLst/>
                <a:uFillTx/>
                <a:latin typeface="Noto Sans CJK KR"/>
                <a:ea typeface="Noto Sans CJK KR"/>
              </a:rPr>
              <a:t>실시간 라이브 스트리밍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83" name="Text 97"/>
          <p:cNvSpPr/>
          <p:nvPr/>
        </p:nvSpPr>
        <p:spPr>
          <a:xfrm>
            <a:off x="933120" y="1901880"/>
            <a:ext cx="2467800" cy="1096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243142"/>
                </a:solidFill>
                <a:effectLst/>
                <a:uFillTx/>
                <a:latin typeface="Noto Sans CJK KR"/>
                <a:ea typeface="Noto Sans CJK KR"/>
              </a:rPr>
              <a:t>• 독성 채팅을 즉시 차단·</a:t>
            </a:r>
            <a:r>
              <a:rPr lang="ko-KR" sz="1200" b="0" u="none" strike="noStrike">
                <a:solidFill>
                  <a:srgbClr val="243142"/>
                </a:solidFill>
                <a:effectLst/>
                <a:uFillTx/>
                <a:latin typeface="Noto Sans CJK KR"/>
                <a:ea typeface="Noto Sans CJK KR"/>
              </a:rPr>
              <a:t>가림 처리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243142"/>
                </a:solidFill>
                <a:effectLst/>
                <a:uFillTx/>
                <a:latin typeface="Noto Sans CJK KR"/>
                <a:ea typeface="Noto Sans CJK KR"/>
              </a:rPr>
              <a:t>• 스트리머와 시청자 경험 보호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84" name="Shape 90"/>
          <p:cNvSpPr/>
          <p:nvPr/>
        </p:nvSpPr>
        <p:spPr>
          <a:xfrm>
            <a:off x="750240" y="3383280"/>
            <a:ext cx="2815200" cy="1663200"/>
          </a:xfrm>
          <a:prstGeom prst="roundRect">
            <a:avLst>
              <a:gd name="adj" fmla="val 4396"/>
            </a:avLst>
          </a:prstGeom>
          <a:solidFill>
            <a:srgbClr val="FFFFFF"/>
          </a:solidFill>
          <a:ln w="12700">
            <a:solidFill>
              <a:srgbClr val="D7E1EF"/>
            </a:solidFill>
            <a:round/>
          </a:ln>
          <a:effectLst>
            <a:outerShdw blurRad="15120" dist="7127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85" name="Text 98"/>
          <p:cNvSpPr/>
          <p:nvPr/>
        </p:nvSpPr>
        <p:spPr>
          <a:xfrm>
            <a:off x="914760" y="3529440"/>
            <a:ext cx="2486160" cy="218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400" b="1" u="none" strike="noStrike">
                <a:solidFill>
                  <a:srgbClr val="183B72"/>
                </a:solidFill>
                <a:effectLst/>
                <a:uFillTx/>
                <a:latin typeface="Noto Sans CJK KR"/>
                <a:ea typeface="Noto Sans CJK KR"/>
              </a:rPr>
              <a:t>커뮤니티 댓글 관리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86" name="Text 99"/>
          <p:cNvSpPr/>
          <p:nvPr/>
        </p:nvSpPr>
        <p:spPr>
          <a:xfrm>
            <a:off x="933120" y="3822120"/>
            <a:ext cx="2467800" cy="1096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243142"/>
                </a:solidFill>
                <a:effectLst/>
                <a:uFillTx/>
                <a:latin typeface="Noto Sans CJK KR"/>
                <a:ea typeface="Noto Sans CJK KR"/>
              </a:rPr>
              <a:t>• 게시글/</a:t>
            </a:r>
            <a:r>
              <a:rPr lang="ko-KR" sz="1200" b="0" u="none" strike="noStrike">
                <a:solidFill>
                  <a:srgbClr val="243142"/>
                </a:solidFill>
                <a:effectLst/>
                <a:uFillTx/>
                <a:latin typeface="Noto Sans CJK KR"/>
                <a:ea typeface="Noto Sans CJK KR"/>
              </a:rPr>
              <a:t>댓글의 독성 여부 자동 분류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243142"/>
                </a:solidFill>
                <a:effectLst/>
                <a:uFillTx/>
                <a:latin typeface="Noto Sans CJK KR"/>
                <a:ea typeface="Noto Sans CJK KR"/>
              </a:rPr>
              <a:t>• 운영자 검토 우선순위 부여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87" name="Shape 91"/>
          <p:cNvSpPr/>
          <p:nvPr/>
        </p:nvSpPr>
        <p:spPr>
          <a:xfrm>
            <a:off x="750240" y="5321880"/>
            <a:ext cx="2815200" cy="584280"/>
          </a:xfrm>
          <a:prstGeom prst="roundRect">
            <a:avLst>
              <a:gd name="adj" fmla="val 12500"/>
            </a:avLst>
          </a:prstGeom>
          <a:solidFill>
            <a:srgbClr val="EFF6EF"/>
          </a:solidFill>
          <a:ln w="12700">
            <a:solidFill>
              <a:srgbClr val="D7E1EF"/>
            </a:solidFill>
            <a:round/>
          </a:ln>
          <a:effectLst>
            <a:outerShdw blurRad="15120" dist="7127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88" name="Text 100"/>
          <p:cNvSpPr/>
          <p:nvPr/>
        </p:nvSpPr>
        <p:spPr>
          <a:xfrm>
            <a:off x="914760" y="5468040"/>
            <a:ext cx="2486160" cy="218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220" b="1" u="none" strike="noStrike">
                <a:solidFill>
                  <a:srgbClr val="1E9E74"/>
                </a:solidFill>
                <a:effectLst/>
                <a:uFillTx/>
                <a:latin typeface="Noto Sans CJK KR"/>
                <a:ea typeface="Noto Sans CJK KR"/>
              </a:rPr>
              <a:t>확장 포인트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89" name="Text 101"/>
          <p:cNvSpPr/>
          <p:nvPr/>
        </p:nvSpPr>
        <p:spPr>
          <a:xfrm>
            <a:off x="933120" y="5760720"/>
            <a:ext cx="2467800" cy="17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60" b="0" u="none" strike="noStrike">
                <a:solidFill>
                  <a:srgbClr val="243142"/>
                </a:solidFill>
                <a:effectLst/>
                <a:uFillTx/>
                <a:latin typeface="Noto Sans CJK KR"/>
                <a:ea typeface="Noto Sans CJK KR"/>
              </a:rPr>
              <a:t>• 모바일 / </a:t>
            </a:r>
            <a:r>
              <a:rPr lang="ko-KR" sz="1060" b="0" u="none" strike="noStrike">
                <a:solidFill>
                  <a:srgbClr val="243142"/>
                </a:solidFill>
                <a:effectLst/>
                <a:uFillTx/>
                <a:latin typeface="Noto Sans CJK KR"/>
                <a:ea typeface="Noto Sans CJK KR"/>
              </a:rPr>
              <a:t>웹 서비스 </a:t>
            </a:r>
            <a:r>
              <a:rPr lang="en-US" sz="1060" b="0" u="none" strike="noStrike">
                <a:solidFill>
                  <a:srgbClr val="243142"/>
                </a:solidFill>
                <a:effectLst/>
                <a:uFillTx/>
                <a:latin typeface="Noto Sans CJK KR"/>
                <a:ea typeface="Noto Sans CJK KR"/>
              </a:rPr>
              <a:t>API</a:t>
            </a:r>
            <a:r>
              <a:rPr lang="ko-KR" sz="1060" b="0" u="none" strike="noStrike">
                <a:solidFill>
                  <a:srgbClr val="243142"/>
                </a:solidFill>
                <a:effectLst/>
                <a:uFillTx/>
                <a:latin typeface="Noto Sans CJK KR"/>
                <a:ea typeface="Noto Sans CJK KR"/>
              </a:rPr>
              <a:t>로 연결 가능</a:t>
            </a:r>
            <a:endParaRPr lang="en-US" sz="106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90" name="Shape 92"/>
          <p:cNvSpPr/>
          <p:nvPr/>
        </p:nvSpPr>
        <p:spPr>
          <a:xfrm>
            <a:off x="3859200" y="1463040"/>
            <a:ext cx="4461120" cy="4479480"/>
          </a:xfrm>
          <a:prstGeom prst="roundRect">
            <a:avLst>
              <a:gd name="adj" fmla="val 1639"/>
            </a:avLst>
          </a:prstGeom>
          <a:solidFill>
            <a:srgbClr val="FFFFFF"/>
          </a:solidFill>
          <a:ln w="12700">
            <a:solidFill>
              <a:srgbClr val="D7E1E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91" name="Text 102"/>
          <p:cNvSpPr/>
          <p:nvPr/>
        </p:nvSpPr>
        <p:spPr>
          <a:xfrm>
            <a:off x="4096800" y="1700640"/>
            <a:ext cx="2193480" cy="200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500" b="1" u="none" strike="noStrike">
                <a:solidFill>
                  <a:srgbClr val="183B72"/>
                </a:solidFill>
                <a:effectLst/>
                <a:uFillTx/>
                <a:latin typeface="Noto Sans CJK KR"/>
                <a:ea typeface="Noto Sans CJK KR"/>
              </a:rPr>
              <a:t>핵심 활용 시나리오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92" name="Shape 93"/>
          <p:cNvSpPr/>
          <p:nvPr/>
        </p:nvSpPr>
        <p:spPr>
          <a:xfrm>
            <a:off x="4224960" y="2331720"/>
            <a:ext cx="1077840" cy="309960"/>
          </a:xfrm>
          <a:prstGeom prst="roundRect">
            <a:avLst>
              <a:gd name="adj" fmla="val 50000"/>
            </a:avLst>
          </a:prstGeom>
          <a:solidFill>
            <a:srgbClr val="4E87D7"/>
          </a:solidFill>
          <a:ln w="12700">
            <a:solidFill>
              <a:srgbClr val="4E87D7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293" name="Text 103"/>
          <p:cNvSpPr/>
          <p:nvPr/>
        </p:nvSpPr>
        <p:spPr>
          <a:xfrm>
            <a:off x="4224960" y="2340720"/>
            <a:ext cx="1077840" cy="291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050" b="1" u="none" strike="noStrike">
                <a:solidFill>
                  <a:srgbClr val="FFFFFF"/>
                </a:solidFill>
                <a:effectLst/>
                <a:uFillTx/>
                <a:latin typeface="Noto Sans CJK KR"/>
                <a:ea typeface="Noto Sans CJK KR"/>
              </a:rPr>
              <a:t>채팅 입력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94" name="Shape 94"/>
          <p:cNvSpPr/>
          <p:nvPr/>
        </p:nvSpPr>
        <p:spPr>
          <a:xfrm>
            <a:off x="5532480" y="2331720"/>
            <a:ext cx="1169280" cy="309960"/>
          </a:xfrm>
          <a:prstGeom prst="roundRect">
            <a:avLst>
              <a:gd name="adj" fmla="val 50000"/>
            </a:avLst>
          </a:prstGeom>
          <a:solidFill>
            <a:srgbClr val="183B72"/>
          </a:solidFill>
          <a:ln w="12700">
            <a:solidFill>
              <a:srgbClr val="183B72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295" name="Text 104"/>
          <p:cNvSpPr/>
          <p:nvPr/>
        </p:nvSpPr>
        <p:spPr>
          <a:xfrm>
            <a:off x="5532480" y="2340720"/>
            <a:ext cx="1169280" cy="291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050" b="1" u="none" strike="noStrike">
                <a:solidFill>
                  <a:srgbClr val="FFFFFF"/>
                </a:solidFill>
                <a:effectLst/>
                <a:uFillTx/>
                <a:latin typeface="Noto Sans CJK KR"/>
                <a:ea typeface="Noto Sans CJK KR"/>
              </a:rPr>
              <a:t>모델 판정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96" name="Shape 95"/>
          <p:cNvSpPr/>
          <p:nvPr/>
        </p:nvSpPr>
        <p:spPr>
          <a:xfrm>
            <a:off x="6931440" y="2331720"/>
            <a:ext cx="1132920" cy="30996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 w="12700">
            <a:solidFill>
              <a:srgbClr val="1E9E74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297" name="Text 105"/>
          <p:cNvSpPr/>
          <p:nvPr/>
        </p:nvSpPr>
        <p:spPr>
          <a:xfrm>
            <a:off x="6931440" y="2340720"/>
            <a:ext cx="1132920" cy="291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050" b="1" u="none" strike="noStrike">
                <a:solidFill>
                  <a:srgbClr val="FFFFFF"/>
                </a:solidFill>
                <a:effectLst/>
                <a:uFillTx/>
                <a:latin typeface="Noto Sans CJK KR"/>
                <a:ea typeface="Noto Sans CJK KR"/>
              </a:rPr>
              <a:t>처리 결과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98" name="Shape 96"/>
          <p:cNvSpPr/>
          <p:nvPr/>
        </p:nvSpPr>
        <p:spPr>
          <a:xfrm>
            <a:off x="5340240" y="2486880"/>
            <a:ext cx="164520" cy="360"/>
          </a:xfrm>
          <a:prstGeom prst="line">
            <a:avLst/>
          </a:prstGeom>
          <a:ln w="17780">
            <a:solidFill>
              <a:srgbClr val="4E87D7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2080" tIns="-44640" rIns="8208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99" name="Shape 97"/>
          <p:cNvSpPr/>
          <p:nvPr/>
        </p:nvSpPr>
        <p:spPr>
          <a:xfrm>
            <a:off x="6757560" y="2486880"/>
            <a:ext cx="137160" cy="360"/>
          </a:xfrm>
          <a:prstGeom prst="line">
            <a:avLst/>
          </a:prstGeom>
          <a:ln w="17780">
            <a:solidFill>
              <a:srgbClr val="4E87D7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8400" tIns="-44640" rIns="684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00" name="Shape 98"/>
          <p:cNvSpPr/>
          <p:nvPr/>
        </p:nvSpPr>
        <p:spPr>
          <a:xfrm>
            <a:off x="4160880" y="2880360"/>
            <a:ext cx="3656520" cy="1516680"/>
          </a:xfrm>
          <a:prstGeom prst="roundRect">
            <a:avLst>
              <a:gd name="adj" fmla="val 4819"/>
            </a:avLst>
          </a:prstGeom>
          <a:solidFill>
            <a:srgbClr val="EEF4FC"/>
          </a:solidFill>
          <a:ln w="12700">
            <a:solidFill>
              <a:srgbClr val="D7E1EF"/>
            </a:solidFill>
            <a:round/>
          </a:ln>
          <a:effectLst>
            <a:outerShdw blurRad="15120" dist="7127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01" name="Text 106"/>
          <p:cNvSpPr/>
          <p:nvPr/>
        </p:nvSpPr>
        <p:spPr>
          <a:xfrm>
            <a:off x="4325400" y="3026520"/>
            <a:ext cx="3327480" cy="218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400" b="1" u="none" strike="noStrike">
                <a:solidFill>
                  <a:srgbClr val="183B72"/>
                </a:solidFill>
                <a:effectLst/>
                <a:uFillTx/>
                <a:latin typeface="Noto Sans CJK KR"/>
                <a:ea typeface="Noto Sans CJK KR"/>
              </a:rPr>
              <a:t>실시간 라이브 스트리밍에서의 독성 채팅 차단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02" name="Text 107"/>
          <p:cNvSpPr/>
          <p:nvPr/>
        </p:nvSpPr>
        <p:spPr>
          <a:xfrm>
            <a:off x="4343760" y="3319200"/>
            <a:ext cx="3309120" cy="950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80" b="0" u="none" strike="noStrike">
                <a:solidFill>
                  <a:srgbClr val="243142"/>
                </a:solidFill>
                <a:effectLst/>
                <a:uFillTx/>
                <a:latin typeface="Noto Sans CJK KR"/>
                <a:ea typeface="Noto Sans CJK KR"/>
              </a:rPr>
              <a:t>• 독성 판정 시 즉시 숨김, </a:t>
            </a:r>
            <a:r>
              <a:rPr lang="ko-KR" sz="1180" b="0" u="none" strike="noStrike">
                <a:solidFill>
                  <a:srgbClr val="243142"/>
                </a:solidFill>
                <a:effectLst/>
                <a:uFillTx/>
                <a:latin typeface="Noto Sans CJK KR"/>
                <a:ea typeface="Noto Sans CJK KR"/>
              </a:rPr>
              <a:t>경고</a:t>
            </a:r>
            <a:r>
              <a:rPr lang="en-US" sz="1180" b="0" u="none" strike="noStrike">
                <a:solidFill>
                  <a:srgbClr val="243142"/>
                </a:solidFill>
                <a:effectLst/>
                <a:uFillTx/>
                <a:latin typeface="Noto Sans CJK KR"/>
                <a:ea typeface="Noto Sans CJK KR"/>
              </a:rPr>
              <a:t>, </a:t>
            </a:r>
            <a:r>
              <a:rPr lang="ko-KR" sz="1180" b="0" u="none" strike="noStrike">
                <a:solidFill>
                  <a:srgbClr val="243142"/>
                </a:solidFill>
                <a:effectLst/>
                <a:uFillTx/>
                <a:latin typeface="Noto Sans CJK KR"/>
                <a:ea typeface="Noto Sans CJK KR"/>
              </a:rPr>
              <a:t>관리자 검토 큐 이동 등 후처리 가능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18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80" b="0" u="none" strike="noStrike">
                <a:solidFill>
                  <a:srgbClr val="243142"/>
                </a:solidFill>
                <a:effectLst/>
                <a:uFillTx/>
                <a:latin typeface="Noto Sans CJK KR"/>
                <a:ea typeface="Noto Sans CJK KR"/>
              </a:rPr>
              <a:t>• 방송 분위기와 시청자 안전을 지키는 1</a:t>
            </a:r>
            <a:r>
              <a:rPr lang="ko-KR" sz="1180" b="0" u="none" strike="noStrike">
                <a:solidFill>
                  <a:srgbClr val="243142"/>
                </a:solidFill>
                <a:effectLst/>
                <a:uFillTx/>
                <a:latin typeface="Noto Sans CJK KR"/>
                <a:ea typeface="Noto Sans CJK KR"/>
              </a:rPr>
              <a:t>차 필터 역할 수행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03" name="Text 108"/>
          <p:cNvSpPr/>
          <p:nvPr/>
        </p:nvSpPr>
        <p:spPr>
          <a:xfrm>
            <a:off x="4169880" y="4846320"/>
            <a:ext cx="3711240" cy="273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60" b="0" u="none" strike="noStrike">
                <a:solidFill>
                  <a:srgbClr val="6C7889"/>
                </a:solidFill>
                <a:effectLst/>
                <a:uFillTx/>
                <a:latin typeface="Noto Sans CJK KR"/>
                <a:ea typeface="Noto Sans CJK KR"/>
              </a:rPr>
              <a:t>※ 자동 차단만이 아니라 보류 / </a:t>
            </a:r>
            <a:r>
              <a:rPr lang="ko-KR" sz="1060" b="0" u="none" strike="noStrike">
                <a:solidFill>
                  <a:srgbClr val="6C7889"/>
                </a:solidFill>
                <a:effectLst/>
                <a:uFillTx/>
                <a:latin typeface="Noto Sans CJK KR"/>
                <a:ea typeface="Noto Sans CJK KR"/>
              </a:rPr>
              <a:t>검토 </a:t>
            </a:r>
            <a:r>
              <a:rPr lang="en-US" sz="1060" b="0" u="none" strike="noStrike">
                <a:solidFill>
                  <a:srgbClr val="6C7889"/>
                </a:solidFill>
                <a:effectLst/>
                <a:uFillTx/>
                <a:latin typeface="Noto Sans CJK KR"/>
                <a:ea typeface="Noto Sans CJK KR"/>
              </a:rPr>
              <a:t>/ </a:t>
            </a:r>
            <a:r>
              <a:rPr lang="ko-KR" sz="1060" b="0" u="none" strike="noStrike">
                <a:solidFill>
                  <a:srgbClr val="6C7889"/>
                </a:solidFill>
                <a:effectLst/>
                <a:uFillTx/>
                <a:latin typeface="Noto Sans CJK KR"/>
                <a:ea typeface="Noto Sans CJK KR"/>
              </a:rPr>
              <a:t>경고 단계와 함께 사용하면 오탐 부담을 줄일 수 있음</a:t>
            </a:r>
            <a:endParaRPr lang="en-US" sz="106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04" name="Shape 99"/>
          <p:cNvSpPr/>
          <p:nvPr/>
        </p:nvSpPr>
        <p:spPr>
          <a:xfrm>
            <a:off x="8614080" y="1463040"/>
            <a:ext cx="2815200" cy="1663200"/>
          </a:xfrm>
          <a:prstGeom prst="roundRect">
            <a:avLst>
              <a:gd name="adj" fmla="val 4396"/>
            </a:avLst>
          </a:prstGeom>
          <a:solidFill>
            <a:srgbClr val="FFFFFF"/>
          </a:solidFill>
          <a:ln w="12700">
            <a:solidFill>
              <a:srgbClr val="D7E1EF"/>
            </a:solidFill>
            <a:round/>
          </a:ln>
          <a:effectLst>
            <a:outerShdw blurRad="15120" dist="7127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05" name="Text 109"/>
          <p:cNvSpPr/>
          <p:nvPr/>
        </p:nvSpPr>
        <p:spPr>
          <a:xfrm>
            <a:off x="8778600" y="1609200"/>
            <a:ext cx="2486160" cy="218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400" b="1" u="none" strike="noStrike">
                <a:solidFill>
                  <a:srgbClr val="183B72"/>
                </a:solidFill>
                <a:effectLst/>
                <a:uFillTx/>
                <a:latin typeface="Noto Sans CJK KR"/>
                <a:ea typeface="Noto Sans CJK KR"/>
              </a:rPr>
              <a:t>게임 </a:t>
            </a:r>
            <a:r>
              <a:rPr lang="en-US" sz="1400" b="1" u="none" strike="noStrike">
                <a:solidFill>
                  <a:srgbClr val="183B72"/>
                </a:solidFill>
                <a:effectLst/>
                <a:uFillTx/>
                <a:latin typeface="Noto Sans CJK KR"/>
                <a:ea typeface="Noto Sans CJK KR"/>
              </a:rPr>
              <a:t>/ </a:t>
            </a:r>
            <a:r>
              <a:rPr lang="ko-KR" sz="1400" b="1" u="none" strike="noStrike">
                <a:solidFill>
                  <a:srgbClr val="183B72"/>
                </a:solidFill>
                <a:effectLst/>
                <a:uFillTx/>
                <a:latin typeface="Noto Sans CJK KR"/>
                <a:ea typeface="Noto Sans CJK KR"/>
              </a:rPr>
              <a:t>방송 채팅 관리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06" name="Text 110"/>
          <p:cNvSpPr/>
          <p:nvPr/>
        </p:nvSpPr>
        <p:spPr>
          <a:xfrm>
            <a:off x="8796960" y="1901880"/>
            <a:ext cx="2467800" cy="1096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243142"/>
                </a:solidFill>
                <a:effectLst/>
                <a:uFillTx/>
                <a:latin typeface="Noto Sans CJK KR"/>
                <a:ea typeface="Noto Sans CJK KR"/>
              </a:rPr>
              <a:t>• 순간적으로 올라오는 유해 채팅 필터링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243142"/>
                </a:solidFill>
                <a:effectLst/>
                <a:uFillTx/>
                <a:latin typeface="Noto Sans CJK KR"/>
                <a:ea typeface="Noto Sans CJK KR"/>
              </a:rPr>
              <a:t>• 운영자 부담 감소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07" name="Shape 100"/>
          <p:cNvSpPr/>
          <p:nvPr/>
        </p:nvSpPr>
        <p:spPr>
          <a:xfrm>
            <a:off x="8614080" y="3383280"/>
            <a:ext cx="2815200" cy="1663200"/>
          </a:xfrm>
          <a:prstGeom prst="roundRect">
            <a:avLst>
              <a:gd name="adj" fmla="val 4396"/>
            </a:avLst>
          </a:prstGeom>
          <a:solidFill>
            <a:srgbClr val="EEF4FC"/>
          </a:solidFill>
          <a:ln w="12700">
            <a:solidFill>
              <a:srgbClr val="D7E1EF"/>
            </a:solidFill>
            <a:round/>
          </a:ln>
          <a:effectLst>
            <a:outerShdw blurRad="15120" dist="7127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08" name="Text 111"/>
          <p:cNvSpPr/>
          <p:nvPr/>
        </p:nvSpPr>
        <p:spPr>
          <a:xfrm>
            <a:off x="8778600" y="3529440"/>
            <a:ext cx="2486160" cy="218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400" b="1" u="none" strike="noStrike">
                <a:solidFill>
                  <a:srgbClr val="183B72"/>
                </a:solidFill>
                <a:effectLst/>
                <a:uFillTx/>
                <a:latin typeface="Noto Sans CJK KR"/>
                <a:ea typeface="Noto Sans CJK KR"/>
              </a:rPr>
              <a:t>고객 커뮤니티 보호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09" name="Text 112"/>
          <p:cNvSpPr/>
          <p:nvPr/>
        </p:nvSpPr>
        <p:spPr>
          <a:xfrm>
            <a:off x="8796960" y="3822120"/>
            <a:ext cx="2467800" cy="1096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243142"/>
                </a:solidFill>
                <a:effectLst/>
                <a:uFillTx/>
                <a:latin typeface="Noto Sans CJK KR"/>
                <a:ea typeface="Noto Sans CJK KR"/>
              </a:rPr>
              <a:t>• 브랜드 커뮤니티의 공격적 댓글 완화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243142"/>
                </a:solidFill>
                <a:effectLst/>
                <a:uFillTx/>
                <a:latin typeface="Noto Sans CJK KR"/>
                <a:ea typeface="Noto Sans CJK KR"/>
              </a:rPr>
              <a:t>• 신고 전 사전 탐지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10" name="PlaceHolder 4"/>
          <p:cNvSpPr txBox="1"/>
          <p:nvPr/>
        </p:nvSpPr>
        <p:spPr>
          <a:xfrm>
            <a:off x="11110320" y="6428160"/>
            <a:ext cx="456120" cy="200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fld id="{ACD7C7C7-05FA-4986-A35D-695E1AFA33AC}" type="slidenum">
              <a:rPr lang="en-US" sz="800" b="0" u="none" strike="noStrike">
                <a:solidFill>
                  <a:srgbClr val="5E6B86"/>
                </a:solidFill>
                <a:effectLst/>
                <a:uFillTx/>
                <a:latin typeface="Malgun Gothic"/>
                <a:ea typeface="Malgun Gothic"/>
              </a:rPr>
              <a:t>11</a:t>
            </a:fld>
            <a:endParaRPr lang="en-US" sz="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Text 32"/>
          <p:cNvSpPr/>
          <p:nvPr/>
        </p:nvSpPr>
        <p:spPr>
          <a:xfrm>
            <a:off x="503640" y="640080"/>
            <a:ext cx="5119560" cy="410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1A1A1A"/>
                </a:solidFill>
                <a:effectLst/>
                <a:uFillTx/>
                <a:latin typeface="Malgun Gothic"/>
                <a:ea typeface="Malgun Gothic"/>
              </a:rPr>
              <a:t>10. </a:t>
            </a:r>
            <a:r>
              <a:rPr lang="ko-KR" sz="2200" b="1" u="none" strike="noStrike">
                <a:solidFill>
                  <a:srgbClr val="1A1A1A"/>
                </a:solidFill>
                <a:effectLst/>
                <a:uFillTx/>
                <a:latin typeface="Malgun Gothic"/>
                <a:ea typeface="Malgun Gothic"/>
              </a:rPr>
              <a:t>한계와 주의점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12" name="Shape 43"/>
          <p:cNvSpPr/>
          <p:nvPr/>
        </p:nvSpPr>
        <p:spPr>
          <a:xfrm>
            <a:off x="704520" y="1124640"/>
            <a:ext cx="748800" cy="72000"/>
          </a:xfrm>
          <a:prstGeom prst="roundRect">
            <a:avLst>
              <a:gd name="adj" fmla="val 50000"/>
            </a:avLst>
          </a:prstGeom>
          <a:solidFill>
            <a:srgbClr val="4E87D7"/>
          </a:solidFill>
          <a:ln w="12700">
            <a:solidFill>
              <a:srgbClr val="4E87D7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6840" rIns="90000" bIns="684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313" name="Text 39"/>
          <p:cNvSpPr/>
          <p:nvPr/>
        </p:nvSpPr>
        <p:spPr>
          <a:xfrm>
            <a:off x="1554840" y="1024200"/>
            <a:ext cx="9600120" cy="218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100" b="0" u="none" strike="noStrike">
                <a:solidFill>
                  <a:srgbClr val="6C7889"/>
                </a:solidFill>
                <a:effectLst/>
                <a:uFillTx/>
                <a:latin typeface="Noto Sans CJK KR"/>
                <a:ea typeface="Noto Sans CJK KR"/>
              </a:rPr>
              <a:t>분류기는 유용하지만</a:t>
            </a:r>
            <a:r>
              <a:rPr lang="en-US" sz="1100" b="0" u="none" strike="noStrike">
                <a:solidFill>
                  <a:srgbClr val="6C7889"/>
                </a:solidFill>
                <a:effectLst/>
                <a:uFillTx/>
                <a:latin typeface="Noto Sans CJK KR"/>
                <a:ea typeface="Noto Sans CJK KR"/>
              </a:rPr>
              <a:t>, </a:t>
            </a:r>
            <a:r>
              <a:rPr lang="ko-KR" sz="1100" b="0" u="none" strike="noStrike">
                <a:solidFill>
                  <a:srgbClr val="6C7889"/>
                </a:solidFill>
                <a:effectLst/>
                <a:uFillTx/>
                <a:latin typeface="Noto Sans CJK KR"/>
                <a:ea typeface="Noto Sans CJK KR"/>
              </a:rPr>
              <a:t>모든 맥락을 완벽히 이해하지는 못한다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14" name="Shape 44"/>
          <p:cNvSpPr/>
          <p:nvPr/>
        </p:nvSpPr>
        <p:spPr>
          <a:xfrm>
            <a:off x="750240" y="1481400"/>
            <a:ext cx="5485320" cy="1955880"/>
          </a:xfrm>
          <a:prstGeom prst="roundRect">
            <a:avLst>
              <a:gd name="adj" fmla="val 3738"/>
            </a:avLst>
          </a:prstGeom>
          <a:solidFill>
            <a:srgbClr val="FFFFFF"/>
          </a:solidFill>
          <a:ln w="12700">
            <a:solidFill>
              <a:srgbClr val="D7E1EF"/>
            </a:solidFill>
            <a:round/>
          </a:ln>
          <a:effectLst>
            <a:outerShdw blurRad="15120" dist="7127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15" name="Text 40"/>
          <p:cNvSpPr/>
          <p:nvPr/>
        </p:nvSpPr>
        <p:spPr>
          <a:xfrm>
            <a:off x="914760" y="1627560"/>
            <a:ext cx="5156280" cy="218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400" b="1" u="none" strike="noStrike">
                <a:solidFill>
                  <a:srgbClr val="183B72"/>
                </a:solidFill>
                <a:effectLst/>
                <a:uFillTx/>
                <a:latin typeface="Noto Sans CJK KR"/>
                <a:ea typeface="Noto Sans CJK KR"/>
              </a:rPr>
              <a:t>모델 측 한계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16" name="Text 41"/>
          <p:cNvSpPr/>
          <p:nvPr/>
        </p:nvSpPr>
        <p:spPr>
          <a:xfrm>
            <a:off x="933120" y="1920240"/>
            <a:ext cx="5137920" cy="1388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0" u="none" strike="noStrike">
                <a:solidFill>
                  <a:srgbClr val="243142"/>
                </a:solidFill>
                <a:effectLst/>
                <a:uFillTx/>
                <a:latin typeface="Noto Sans CJK KR"/>
                <a:ea typeface="Noto Sans CJK KR"/>
              </a:rPr>
              <a:t>• 비꼼·</a:t>
            </a:r>
            <a:r>
              <a:rPr lang="ko-KR" sz="1220" b="0" u="none" strike="noStrike">
                <a:solidFill>
                  <a:srgbClr val="243142"/>
                </a:solidFill>
                <a:effectLst/>
                <a:uFillTx/>
                <a:latin typeface="Noto Sans CJK KR"/>
                <a:ea typeface="Noto Sans CJK KR"/>
              </a:rPr>
              <a:t>반어법처럼 문맥 의존적인 표현은 오탐</a:t>
            </a:r>
            <a:r>
              <a:rPr lang="en-US" sz="1220" b="0" u="none" strike="noStrike">
                <a:solidFill>
                  <a:srgbClr val="243142"/>
                </a:solidFill>
                <a:effectLst/>
                <a:uFillTx/>
                <a:latin typeface="Noto Sans CJK KR"/>
                <a:ea typeface="Noto Sans CJK KR"/>
              </a:rPr>
              <a:t>/</a:t>
            </a:r>
            <a:r>
              <a:rPr lang="ko-KR" sz="1220" b="0" u="none" strike="noStrike">
                <a:solidFill>
                  <a:srgbClr val="243142"/>
                </a:solidFill>
                <a:effectLst/>
                <a:uFillTx/>
                <a:latin typeface="Noto Sans CJK KR"/>
                <a:ea typeface="Noto Sans CJK KR"/>
              </a:rPr>
              <a:t>미탐 가능성이 큼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2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0" u="none" strike="noStrike">
                <a:solidFill>
                  <a:srgbClr val="243142"/>
                </a:solidFill>
                <a:effectLst/>
                <a:uFillTx/>
                <a:latin typeface="Noto Sans CJK KR"/>
                <a:ea typeface="Noto Sans CJK KR"/>
              </a:rPr>
              <a:t>• 철자 변형, </a:t>
            </a:r>
            <a:r>
              <a:rPr lang="ko-KR" sz="1220" b="0" u="none" strike="noStrike">
                <a:solidFill>
                  <a:srgbClr val="243142"/>
                </a:solidFill>
                <a:effectLst/>
                <a:uFillTx/>
                <a:latin typeface="Noto Sans CJK KR"/>
                <a:ea typeface="Noto Sans CJK KR"/>
              </a:rPr>
              <a:t>초성</a:t>
            </a:r>
            <a:r>
              <a:rPr lang="en-US" sz="1220" b="0" u="none" strike="noStrike">
                <a:solidFill>
                  <a:srgbClr val="243142"/>
                </a:solidFill>
                <a:effectLst/>
                <a:uFillTx/>
                <a:latin typeface="Noto Sans CJK KR"/>
                <a:ea typeface="Noto Sans CJK KR"/>
              </a:rPr>
              <a:t>, </a:t>
            </a:r>
            <a:r>
              <a:rPr lang="ko-KR" sz="1220" b="0" u="none" strike="noStrike">
                <a:solidFill>
                  <a:srgbClr val="243142"/>
                </a:solidFill>
                <a:effectLst/>
                <a:uFillTx/>
                <a:latin typeface="Noto Sans CJK KR"/>
                <a:ea typeface="Noto Sans CJK KR"/>
              </a:rPr>
              <a:t>우회 표현은 일반 형태보다 탐지가 어려울 수 있음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2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0" u="none" strike="noStrike">
                <a:solidFill>
                  <a:srgbClr val="243142"/>
                </a:solidFill>
                <a:effectLst/>
                <a:uFillTx/>
                <a:latin typeface="Noto Sans CJK KR"/>
                <a:ea typeface="Noto Sans CJK KR"/>
              </a:rPr>
              <a:t>• 짧은 댓글은 맥락이 부족해 판단이 흔들릴 수 있음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17" name="Shape 45"/>
          <p:cNvSpPr/>
          <p:nvPr/>
        </p:nvSpPr>
        <p:spPr>
          <a:xfrm>
            <a:off x="750240" y="3675960"/>
            <a:ext cx="5485320" cy="2175120"/>
          </a:xfrm>
          <a:prstGeom prst="roundRect">
            <a:avLst>
              <a:gd name="adj" fmla="val 3361"/>
            </a:avLst>
          </a:prstGeom>
          <a:solidFill>
            <a:srgbClr val="EEF4FC"/>
          </a:solidFill>
          <a:ln w="12700">
            <a:solidFill>
              <a:srgbClr val="D7E1EF"/>
            </a:solidFill>
            <a:round/>
          </a:ln>
          <a:effectLst>
            <a:outerShdw blurRad="15120" dist="7127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18" name="Text 42"/>
          <p:cNvSpPr/>
          <p:nvPr/>
        </p:nvSpPr>
        <p:spPr>
          <a:xfrm>
            <a:off x="914760" y="3822120"/>
            <a:ext cx="5156280" cy="218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400" b="1" u="none" strike="noStrike">
                <a:solidFill>
                  <a:srgbClr val="183B72"/>
                </a:solidFill>
                <a:effectLst/>
                <a:uFillTx/>
                <a:latin typeface="Noto Sans CJK KR"/>
                <a:ea typeface="Noto Sans CJK KR"/>
              </a:rPr>
              <a:t>데이터 측 한계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19" name="Text 43"/>
          <p:cNvSpPr/>
          <p:nvPr/>
        </p:nvSpPr>
        <p:spPr>
          <a:xfrm>
            <a:off x="933120" y="4114800"/>
            <a:ext cx="5137920" cy="1608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243142"/>
                </a:solidFill>
                <a:effectLst/>
                <a:uFillTx/>
                <a:latin typeface="Noto Sans CJK KR"/>
                <a:ea typeface="Noto Sans CJK KR"/>
              </a:rPr>
              <a:t>• 공개 데이터셋의 범위와 라벨링 기준이 실제 서비스의 기준과 완전히 같지 않을 수 있음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243142"/>
                </a:solidFill>
                <a:effectLst/>
                <a:uFillTx/>
                <a:latin typeface="Noto Sans CJK KR"/>
                <a:ea typeface="Noto Sans CJK KR"/>
              </a:rPr>
              <a:t>• 학습 데이터에 적은 표현은 실전에서 잘못 분류될 가능성이 있음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243142"/>
                </a:solidFill>
                <a:effectLst/>
                <a:uFillTx/>
                <a:latin typeface="Noto Sans CJK KR"/>
                <a:ea typeface="Noto Sans CJK KR"/>
              </a:rPr>
              <a:t>• 서비스 도입 전에는 직접 만든 검증 문장 세트로 추가 확인이 필요함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20" name="Shape 46"/>
          <p:cNvSpPr/>
          <p:nvPr/>
        </p:nvSpPr>
        <p:spPr>
          <a:xfrm>
            <a:off x="6401160" y="1481400"/>
            <a:ext cx="5028120" cy="4369680"/>
          </a:xfrm>
          <a:prstGeom prst="roundRect">
            <a:avLst>
              <a:gd name="adj" fmla="val 1674"/>
            </a:avLst>
          </a:prstGeom>
          <a:solidFill>
            <a:srgbClr val="FFFFFF"/>
          </a:solidFill>
          <a:ln w="12700">
            <a:solidFill>
              <a:srgbClr val="D7E1E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21" name="Text 44"/>
          <p:cNvSpPr/>
          <p:nvPr/>
        </p:nvSpPr>
        <p:spPr>
          <a:xfrm>
            <a:off x="6657120" y="1719000"/>
            <a:ext cx="1644840" cy="200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500" b="1" u="none" strike="noStrike">
                <a:solidFill>
                  <a:srgbClr val="183B72"/>
                </a:solidFill>
                <a:effectLst/>
                <a:uFillTx/>
                <a:latin typeface="Noto Sans CJK KR"/>
                <a:ea typeface="Noto Sans CJK KR"/>
              </a:rPr>
              <a:t>운영상 주의점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22" name="Shape 47"/>
          <p:cNvSpPr/>
          <p:nvPr/>
        </p:nvSpPr>
        <p:spPr>
          <a:xfrm>
            <a:off x="6657120" y="2212920"/>
            <a:ext cx="4497840" cy="529200"/>
          </a:xfrm>
          <a:prstGeom prst="roundRect">
            <a:avLst>
              <a:gd name="adj" fmla="val 10345"/>
            </a:avLst>
          </a:prstGeom>
          <a:solidFill>
            <a:srgbClr val="F7F9FC"/>
          </a:solidFill>
          <a:ln w="12700">
            <a:solidFill>
              <a:srgbClr val="D7E1E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23" name="Text 45"/>
          <p:cNvSpPr/>
          <p:nvPr/>
        </p:nvSpPr>
        <p:spPr>
          <a:xfrm>
            <a:off x="6803640" y="2250000"/>
            <a:ext cx="2010600" cy="163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130" b="1" u="none" strike="noStrike">
                <a:solidFill>
                  <a:srgbClr val="183B72"/>
                </a:solidFill>
                <a:effectLst/>
                <a:uFillTx/>
                <a:latin typeface="Noto Sans CJK KR"/>
                <a:ea typeface="Noto Sans CJK KR"/>
              </a:rPr>
              <a:t>자동 차단만으로 끝내지 않기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24" name="Text 46"/>
          <p:cNvSpPr/>
          <p:nvPr/>
        </p:nvSpPr>
        <p:spPr>
          <a:xfrm>
            <a:off x="6803640" y="2495880"/>
            <a:ext cx="4003920" cy="163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030" b="0" u="none" strike="noStrike">
                <a:solidFill>
                  <a:srgbClr val="243142"/>
                </a:solidFill>
                <a:effectLst/>
                <a:uFillTx/>
                <a:latin typeface="Noto Sans CJK KR"/>
                <a:ea typeface="Noto Sans CJK KR"/>
              </a:rPr>
              <a:t>중간 단계</a:t>
            </a:r>
            <a:r>
              <a:rPr lang="en-US" sz="1030" b="0" u="none" strike="noStrike">
                <a:solidFill>
                  <a:srgbClr val="243142"/>
                </a:solidFill>
                <a:effectLst/>
                <a:uFillTx/>
                <a:latin typeface="Noto Sans CJK KR"/>
                <a:ea typeface="Noto Sans CJK KR"/>
              </a:rPr>
              <a:t>(</a:t>
            </a:r>
            <a:r>
              <a:rPr lang="ko-KR" sz="1030" b="0" u="none" strike="noStrike">
                <a:solidFill>
                  <a:srgbClr val="243142"/>
                </a:solidFill>
                <a:effectLst/>
                <a:uFillTx/>
                <a:latin typeface="Noto Sans CJK KR"/>
                <a:ea typeface="Noto Sans CJK KR"/>
              </a:rPr>
              <a:t>보류</a:t>
            </a:r>
            <a:r>
              <a:rPr lang="en-US" sz="1030" b="0" u="none" strike="noStrike">
                <a:solidFill>
                  <a:srgbClr val="243142"/>
                </a:solidFill>
                <a:effectLst/>
                <a:uFillTx/>
                <a:latin typeface="Noto Sans CJK KR"/>
                <a:ea typeface="Noto Sans CJK KR"/>
              </a:rPr>
              <a:t>, </a:t>
            </a:r>
            <a:r>
              <a:rPr lang="ko-KR" sz="1030" b="0" u="none" strike="noStrike">
                <a:solidFill>
                  <a:srgbClr val="243142"/>
                </a:solidFill>
                <a:effectLst/>
                <a:uFillTx/>
                <a:latin typeface="Noto Sans CJK KR"/>
                <a:ea typeface="Noto Sans CJK KR"/>
              </a:rPr>
              <a:t>신고 큐</a:t>
            </a:r>
            <a:r>
              <a:rPr lang="en-US" sz="1030" b="0" u="none" strike="noStrike">
                <a:solidFill>
                  <a:srgbClr val="243142"/>
                </a:solidFill>
                <a:effectLst/>
                <a:uFillTx/>
                <a:latin typeface="Noto Sans CJK KR"/>
                <a:ea typeface="Noto Sans CJK KR"/>
              </a:rPr>
              <a:t>, </a:t>
            </a:r>
            <a:r>
              <a:rPr lang="ko-KR" sz="1030" b="0" u="none" strike="noStrike">
                <a:solidFill>
                  <a:srgbClr val="243142"/>
                </a:solidFill>
                <a:effectLst/>
                <a:uFillTx/>
                <a:latin typeface="Noto Sans CJK KR"/>
                <a:ea typeface="Noto Sans CJK KR"/>
              </a:rPr>
              <a:t>운영자 확인</a:t>
            </a:r>
            <a:r>
              <a:rPr lang="en-US" sz="1030" b="0" u="none" strike="noStrike">
                <a:solidFill>
                  <a:srgbClr val="243142"/>
                </a:solidFill>
                <a:effectLst/>
                <a:uFillTx/>
                <a:latin typeface="Noto Sans CJK KR"/>
                <a:ea typeface="Noto Sans CJK KR"/>
              </a:rPr>
              <a:t>)</a:t>
            </a:r>
            <a:r>
              <a:rPr lang="ko-KR" sz="1030" b="0" u="none" strike="noStrike">
                <a:solidFill>
                  <a:srgbClr val="243142"/>
                </a:solidFill>
                <a:effectLst/>
                <a:uFillTx/>
                <a:latin typeface="Noto Sans CJK KR"/>
                <a:ea typeface="Noto Sans CJK KR"/>
              </a:rPr>
              <a:t>를 두면 오탐 피해를 줄일 수 있음</a:t>
            </a:r>
            <a:endParaRPr lang="en-US" sz="103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25" name="Shape 48"/>
          <p:cNvSpPr/>
          <p:nvPr/>
        </p:nvSpPr>
        <p:spPr>
          <a:xfrm>
            <a:off x="6657120" y="2907720"/>
            <a:ext cx="4497840" cy="529200"/>
          </a:xfrm>
          <a:prstGeom prst="roundRect">
            <a:avLst>
              <a:gd name="adj" fmla="val 10345"/>
            </a:avLst>
          </a:prstGeom>
          <a:solidFill>
            <a:srgbClr val="EEF3FA"/>
          </a:solidFill>
          <a:ln w="12700">
            <a:solidFill>
              <a:srgbClr val="D7E1E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26" name="Text 47"/>
          <p:cNvSpPr/>
          <p:nvPr/>
        </p:nvSpPr>
        <p:spPr>
          <a:xfrm>
            <a:off x="6803640" y="2944800"/>
            <a:ext cx="2010600" cy="163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130" b="1" u="none" strike="noStrike">
                <a:solidFill>
                  <a:srgbClr val="183B72"/>
                </a:solidFill>
                <a:effectLst/>
                <a:uFillTx/>
                <a:latin typeface="Noto Sans CJK KR"/>
                <a:ea typeface="Noto Sans CJK KR"/>
              </a:rPr>
              <a:t>검토 단계 함께 두기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27" name="Text 48"/>
          <p:cNvSpPr/>
          <p:nvPr/>
        </p:nvSpPr>
        <p:spPr>
          <a:xfrm>
            <a:off x="6803640" y="3190680"/>
            <a:ext cx="4003920" cy="163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030" b="0" u="none" strike="noStrike">
                <a:solidFill>
                  <a:srgbClr val="243142"/>
                </a:solidFill>
                <a:effectLst/>
                <a:uFillTx/>
                <a:latin typeface="Noto Sans CJK KR"/>
                <a:ea typeface="Noto Sans CJK KR"/>
              </a:rPr>
              <a:t>독성 여부는 커뮤니티 분위기와 정책에 따라 다르게 느껴질 수 있음</a:t>
            </a:r>
            <a:endParaRPr lang="en-US" sz="103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28" name="Shape 49"/>
          <p:cNvSpPr/>
          <p:nvPr/>
        </p:nvSpPr>
        <p:spPr>
          <a:xfrm>
            <a:off x="6657120" y="3602880"/>
            <a:ext cx="4497840" cy="529200"/>
          </a:xfrm>
          <a:prstGeom prst="roundRect">
            <a:avLst>
              <a:gd name="adj" fmla="val 10345"/>
            </a:avLst>
          </a:prstGeom>
          <a:solidFill>
            <a:srgbClr val="F7F9FC"/>
          </a:solidFill>
          <a:ln w="12700">
            <a:solidFill>
              <a:srgbClr val="D7E1E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29" name="Text 49"/>
          <p:cNvSpPr/>
          <p:nvPr/>
        </p:nvSpPr>
        <p:spPr>
          <a:xfrm>
            <a:off x="6803640" y="3639960"/>
            <a:ext cx="2010600" cy="163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130" b="1" u="none" strike="noStrike">
                <a:solidFill>
                  <a:srgbClr val="183B72"/>
                </a:solidFill>
                <a:effectLst/>
                <a:uFillTx/>
                <a:latin typeface="Noto Sans CJK KR"/>
                <a:ea typeface="Noto Sans CJK KR"/>
              </a:rPr>
              <a:t>서비스별 기준 차이 고려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30" name="Text 50"/>
          <p:cNvSpPr/>
          <p:nvPr/>
        </p:nvSpPr>
        <p:spPr>
          <a:xfrm>
            <a:off x="6803640" y="3885480"/>
            <a:ext cx="4003920" cy="163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030" b="0" u="none" strike="noStrike">
                <a:solidFill>
                  <a:srgbClr val="243142"/>
                </a:solidFill>
                <a:effectLst/>
                <a:uFillTx/>
                <a:latin typeface="Noto Sans CJK KR"/>
                <a:ea typeface="Noto Sans CJK KR"/>
              </a:rPr>
              <a:t>방송</a:t>
            </a:r>
            <a:r>
              <a:rPr lang="en-US" sz="1030" b="0" u="none" strike="noStrike">
                <a:solidFill>
                  <a:srgbClr val="243142"/>
                </a:solidFill>
                <a:effectLst/>
                <a:uFillTx/>
                <a:latin typeface="Noto Sans CJK KR"/>
                <a:ea typeface="Noto Sans CJK KR"/>
              </a:rPr>
              <a:t>, </a:t>
            </a:r>
            <a:r>
              <a:rPr lang="ko-KR" sz="1030" b="0" u="none" strike="noStrike">
                <a:solidFill>
                  <a:srgbClr val="243142"/>
                </a:solidFill>
                <a:effectLst/>
                <a:uFillTx/>
                <a:latin typeface="Noto Sans CJK KR"/>
                <a:ea typeface="Noto Sans CJK KR"/>
              </a:rPr>
              <a:t>커뮤니티</a:t>
            </a:r>
            <a:r>
              <a:rPr lang="en-US" sz="1030" b="0" u="none" strike="noStrike">
                <a:solidFill>
                  <a:srgbClr val="243142"/>
                </a:solidFill>
                <a:effectLst/>
                <a:uFillTx/>
                <a:latin typeface="Noto Sans CJK KR"/>
                <a:ea typeface="Noto Sans CJK KR"/>
              </a:rPr>
              <a:t>, </a:t>
            </a:r>
            <a:r>
              <a:rPr lang="ko-KR" sz="1030" b="0" u="none" strike="noStrike">
                <a:solidFill>
                  <a:srgbClr val="243142"/>
                </a:solidFill>
                <a:effectLst/>
                <a:uFillTx/>
                <a:latin typeface="Noto Sans CJK KR"/>
                <a:ea typeface="Noto Sans CJK KR"/>
              </a:rPr>
              <a:t>교육 서비스는 허용 기준이 서로 다름</a:t>
            </a:r>
            <a:endParaRPr lang="en-US" sz="103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31" name="Shape 50"/>
          <p:cNvSpPr/>
          <p:nvPr/>
        </p:nvSpPr>
        <p:spPr>
          <a:xfrm>
            <a:off x="6657120" y="4297680"/>
            <a:ext cx="4497840" cy="529200"/>
          </a:xfrm>
          <a:prstGeom prst="roundRect">
            <a:avLst>
              <a:gd name="adj" fmla="val 10345"/>
            </a:avLst>
          </a:prstGeom>
          <a:solidFill>
            <a:srgbClr val="EEF3FA"/>
          </a:solidFill>
          <a:ln w="12700">
            <a:solidFill>
              <a:srgbClr val="D7E1E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32" name="Text 51"/>
          <p:cNvSpPr/>
          <p:nvPr/>
        </p:nvSpPr>
        <p:spPr>
          <a:xfrm>
            <a:off x="6803640" y="4334760"/>
            <a:ext cx="2010600" cy="163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130" b="1" u="none" strike="noStrike">
                <a:solidFill>
                  <a:srgbClr val="183B72"/>
                </a:solidFill>
                <a:effectLst/>
                <a:uFillTx/>
                <a:latin typeface="Noto Sans CJK KR"/>
                <a:ea typeface="Noto Sans CJK KR"/>
              </a:rPr>
              <a:t>주기적 재학습 필요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33" name="Text 52"/>
          <p:cNvSpPr/>
          <p:nvPr/>
        </p:nvSpPr>
        <p:spPr>
          <a:xfrm>
            <a:off x="6803640" y="4580640"/>
            <a:ext cx="4003920" cy="163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030" b="0" u="none" strike="noStrike">
                <a:solidFill>
                  <a:srgbClr val="243142"/>
                </a:solidFill>
                <a:effectLst/>
                <a:uFillTx/>
                <a:latin typeface="Noto Sans CJK KR"/>
                <a:ea typeface="Noto Sans CJK KR"/>
              </a:rPr>
              <a:t>새 은어</a:t>
            </a:r>
            <a:r>
              <a:rPr lang="en-US" sz="1030" b="0" u="none" strike="noStrike">
                <a:solidFill>
                  <a:srgbClr val="243142"/>
                </a:solidFill>
                <a:effectLst/>
                <a:uFillTx/>
                <a:latin typeface="Noto Sans CJK KR"/>
                <a:ea typeface="Noto Sans CJK KR"/>
              </a:rPr>
              <a:t>·</a:t>
            </a:r>
            <a:r>
              <a:rPr lang="ko-KR" sz="1030" b="0" u="none" strike="noStrike">
                <a:solidFill>
                  <a:srgbClr val="243142"/>
                </a:solidFill>
                <a:effectLst/>
                <a:uFillTx/>
                <a:latin typeface="Noto Sans CJK KR"/>
                <a:ea typeface="Noto Sans CJK KR"/>
              </a:rPr>
              <a:t>유행 표현이 생기므로 데이터와 기준의 업데이트가 필요함</a:t>
            </a:r>
            <a:endParaRPr lang="en-US" sz="103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34" name="PlaceHolder 5"/>
          <p:cNvSpPr txBox="1"/>
          <p:nvPr/>
        </p:nvSpPr>
        <p:spPr>
          <a:xfrm>
            <a:off x="11110320" y="6428160"/>
            <a:ext cx="456120" cy="200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fld id="{B47CF3C0-7D2A-4EEA-A074-61293D0FACD3}" type="slidenum">
              <a:rPr lang="en-US" sz="800" b="0" u="none" strike="noStrike">
                <a:solidFill>
                  <a:srgbClr val="5E6B86"/>
                </a:solidFill>
                <a:effectLst/>
                <a:uFillTx/>
                <a:latin typeface="Malgun Gothic"/>
                <a:ea typeface="Malgun Gothic"/>
              </a:rPr>
              <a:t>12</a:t>
            </a:fld>
            <a:endParaRPr lang="en-US" sz="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ext 33"/>
          <p:cNvSpPr/>
          <p:nvPr/>
        </p:nvSpPr>
        <p:spPr>
          <a:xfrm>
            <a:off x="504000" y="640080"/>
            <a:ext cx="5119560" cy="410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1A1A1A"/>
                </a:solidFill>
                <a:effectLst/>
                <a:uFillTx/>
                <a:latin typeface="Malgun Gothic"/>
                <a:ea typeface="Malgun Gothic"/>
              </a:rPr>
              <a:t>11. </a:t>
            </a:r>
            <a:r>
              <a:rPr lang="ko-KR" sz="2200" b="1" u="none" strike="noStrike">
                <a:solidFill>
                  <a:srgbClr val="1A1A1A"/>
                </a:solidFill>
                <a:effectLst/>
                <a:uFillTx/>
                <a:latin typeface="Malgun Gothic"/>
                <a:ea typeface="Malgun Gothic"/>
              </a:rPr>
              <a:t>향후 발전 방향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36" name="Shape 51"/>
          <p:cNvSpPr/>
          <p:nvPr/>
        </p:nvSpPr>
        <p:spPr>
          <a:xfrm>
            <a:off x="704520" y="1124640"/>
            <a:ext cx="748800" cy="72000"/>
          </a:xfrm>
          <a:prstGeom prst="roundRect">
            <a:avLst>
              <a:gd name="adj" fmla="val 50000"/>
            </a:avLst>
          </a:prstGeom>
          <a:solidFill>
            <a:srgbClr val="4E87D7"/>
          </a:solidFill>
          <a:ln w="12700">
            <a:solidFill>
              <a:srgbClr val="4E87D7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6840" rIns="90000" bIns="684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337" name="Text 34"/>
          <p:cNvSpPr/>
          <p:nvPr/>
        </p:nvSpPr>
        <p:spPr>
          <a:xfrm>
            <a:off x="1554840" y="1024200"/>
            <a:ext cx="9600120" cy="218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100" b="0" u="none" strike="noStrike">
                <a:solidFill>
                  <a:srgbClr val="6C7889"/>
                </a:solidFill>
                <a:effectLst/>
                <a:uFillTx/>
                <a:latin typeface="Noto Sans CJK KR"/>
                <a:ea typeface="Noto Sans CJK KR"/>
              </a:rPr>
              <a:t>스트리머 </a:t>
            </a:r>
            <a:r>
              <a:rPr lang="en-US" sz="1100" b="0" u="none" strike="noStrike">
                <a:solidFill>
                  <a:srgbClr val="6C7889"/>
                </a:solidFill>
                <a:effectLst/>
                <a:uFillTx/>
                <a:latin typeface="Noto Sans CJK KR"/>
                <a:ea typeface="Noto Sans CJK KR"/>
              </a:rPr>
              <a:t>/ </a:t>
            </a:r>
            <a:r>
              <a:rPr lang="ko-KR" sz="1100" b="0" u="none" strike="noStrike">
                <a:solidFill>
                  <a:srgbClr val="6C7889"/>
                </a:solidFill>
                <a:effectLst/>
                <a:uFillTx/>
                <a:latin typeface="Noto Sans CJK KR"/>
                <a:ea typeface="Noto Sans CJK KR"/>
              </a:rPr>
              <a:t>운영자 맞춤형 세부 필터 조정 기능으로 확장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38" name="Shape 52"/>
          <p:cNvSpPr/>
          <p:nvPr/>
        </p:nvSpPr>
        <p:spPr>
          <a:xfrm>
            <a:off x="750240" y="1499760"/>
            <a:ext cx="3729600" cy="4388040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 w="12700">
            <a:solidFill>
              <a:srgbClr val="D7E1EF"/>
            </a:solidFill>
            <a:round/>
          </a:ln>
          <a:effectLst>
            <a:outerShdw blurRad="15120" dist="7127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39" name="Text 35"/>
          <p:cNvSpPr/>
          <p:nvPr/>
        </p:nvSpPr>
        <p:spPr>
          <a:xfrm>
            <a:off x="914760" y="1645920"/>
            <a:ext cx="3400560" cy="218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400" b="1" u="none" strike="noStrike">
                <a:solidFill>
                  <a:srgbClr val="183B72"/>
                </a:solidFill>
                <a:effectLst/>
                <a:uFillTx/>
                <a:latin typeface="Noto Sans CJK KR"/>
                <a:ea typeface="Noto Sans CJK KR"/>
              </a:rPr>
              <a:t>왜 세부 조정이 필요한가</a:t>
            </a:r>
            <a:r>
              <a:rPr lang="en-US" sz="1400" b="1" u="none" strike="noStrike">
                <a:solidFill>
                  <a:srgbClr val="183B72"/>
                </a:solidFill>
                <a:effectLst/>
                <a:uFillTx/>
                <a:latin typeface="Noto Sans CJK KR"/>
                <a:ea typeface="Noto Sans CJK KR"/>
              </a:rPr>
              <a:t>?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40" name="Text 36"/>
          <p:cNvSpPr/>
          <p:nvPr/>
        </p:nvSpPr>
        <p:spPr>
          <a:xfrm>
            <a:off x="933120" y="1938600"/>
            <a:ext cx="3382200" cy="3821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243142"/>
                </a:solidFill>
                <a:effectLst/>
                <a:uFillTx/>
                <a:latin typeface="Noto Sans CJK KR"/>
                <a:ea typeface="Noto Sans CJK KR"/>
              </a:rPr>
              <a:t>• 같은 댓글도 방송 성격과 운영 정책에 따라 허용 여부가 달라질 수 있음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21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243142"/>
                </a:solidFill>
                <a:effectLst/>
                <a:uFillTx/>
                <a:latin typeface="Noto Sans CJK KR"/>
                <a:ea typeface="Noto Sans CJK KR"/>
              </a:rPr>
              <a:t>• 사용자는 “이정도 댓글은 되는데 왜 잘리지?” </a:t>
            </a:r>
            <a:r>
              <a:rPr lang="ko-KR" sz="1210" b="0" u="none" strike="noStrike">
                <a:solidFill>
                  <a:srgbClr val="243142"/>
                </a:solidFill>
                <a:effectLst/>
                <a:uFillTx/>
                <a:latin typeface="Noto Sans CJK KR"/>
                <a:ea typeface="Noto Sans CJK KR"/>
              </a:rPr>
              <a:t>또는 “이건 잘려야 되는데 왜 안 잘리지</a:t>
            </a:r>
            <a:r>
              <a:rPr lang="en-US" sz="1210" b="0" u="none" strike="noStrike">
                <a:solidFill>
                  <a:srgbClr val="243142"/>
                </a:solidFill>
                <a:effectLst/>
                <a:uFillTx/>
                <a:latin typeface="Noto Sans CJK KR"/>
                <a:ea typeface="Noto Sans CJK KR"/>
              </a:rPr>
              <a:t>?”</a:t>
            </a:r>
            <a:r>
              <a:rPr lang="ko-KR" sz="1210" b="0" u="none" strike="noStrike">
                <a:solidFill>
                  <a:srgbClr val="243142"/>
                </a:solidFill>
                <a:effectLst/>
                <a:uFillTx/>
                <a:latin typeface="Noto Sans CJK KR"/>
                <a:ea typeface="Noto Sans CJK KR"/>
              </a:rPr>
              <a:t>를 느낄 수 있음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21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243142"/>
                </a:solidFill>
                <a:effectLst/>
                <a:uFillTx/>
                <a:latin typeface="Noto Sans CJK KR"/>
                <a:ea typeface="Noto Sans CJK KR"/>
              </a:rPr>
              <a:t>• 고정 임계값 하나로 모든 채널에 맞추는 방식은 실제 운영에 불리함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41" name="Shape 53"/>
          <p:cNvSpPr/>
          <p:nvPr/>
        </p:nvSpPr>
        <p:spPr>
          <a:xfrm>
            <a:off x="4718520" y="1499760"/>
            <a:ext cx="6674040" cy="438804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D7E1E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42" name="Text 37"/>
          <p:cNvSpPr/>
          <p:nvPr/>
        </p:nvSpPr>
        <p:spPr>
          <a:xfrm>
            <a:off x="4974840" y="1737360"/>
            <a:ext cx="2193480" cy="200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500" b="1" u="none" strike="noStrike">
                <a:solidFill>
                  <a:srgbClr val="183B72"/>
                </a:solidFill>
                <a:effectLst/>
                <a:uFillTx/>
                <a:latin typeface="Noto Sans CJK KR"/>
                <a:ea typeface="Noto Sans CJK KR"/>
              </a:rPr>
              <a:t>개인화 필터 설정 예시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43" name="Text 38"/>
          <p:cNvSpPr/>
          <p:nvPr/>
        </p:nvSpPr>
        <p:spPr>
          <a:xfrm>
            <a:off x="4992840" y="2221920"/>
            <a:ext cx="2467800" cy="163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180" b="1" u="none" strike="noStrike">
                <a:solidFill>
                  <a:srgbClr val="243142"/>
                </a:solidFill>
                <a:effectLst/>
                <a:uFillTx/>
                <a:latin typeface="Noto Sans CJK KR"/>
                <a:ea typeface="Noto Sans CJK KR"/>
              </a:rPr>
              <a:t>성적 댓글 필터링 강도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44" name="Shape 54"/>
          <p:cNvSpPr/>
          <p:nvPr/>
        </p:nvSpPr>
        <p:spPr>
          <a:xfrm>
            <a:off x="7498440" y="2286000"/>
            <a:ext cx="3199320" cy="127080"/>
          </a:xfrm>
          <a:prstGeom prst="roundRect">
            <a:avLst>
              <a:gd name="adj" fmla="val 50000"/>
            </a:avLst>
          </a:prstGeom>
          <a:solidFill>
            <a:srgbClr val="E6EDF7"/>
          </a:solidFill>
          <a:ln w="12700">
            <a:solidFill>
              <a:srgbClr val="E6EDF7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45" name="Shape 55"/>
          <p:cNvSpPr/>
          <p:nvPr/>
        </p:nvSpPr>
        <p:spPr>
          <a:xfrm>
            <a:off x="7498440" y="2286000"/>
            <a:ext cx="2623320" cy="127080"/>
          </a:xfrm>
          <a:prstGeom prst="roundRect">
            <a:avLst>
              <a:gd name="adj" fmla="val 50000"/>
            </a:avLst>
          </a:prstGeom>
          <a:solidFill>
            <a:srgbClr val="7B5DBA"/>
          </a:solidFill>
          <a:ln w="12700">
            <a:solidFill>
              <a:srgbClr val="7B5DBA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346" name="Shape 56"/>
          <p:cNvSpPr/>
          <p:nvPr/>
        </p:nvSpPr>
        <p:spPr>
          <a:xfrm>
            <a:off x="10040400" y="2221920"/>
            <a:ext cx="218520" cy="254880"/>
          </a:xfrm>
          <a:prstGeom prst="ellipse">
            <a:avLst/>
          </a:prstGeom>
          <a:solidFill>
            <a:srgbClr val="7B5DBA"/>
          </a:solidFill>
          <a:ln w="1270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347" name="Text 53"/>
          <p:cNvSpPr/>
          <p:nvPr/>
        </p:nvSpPr>
        <p:spPr>
          <a:xfrm>
            <a:off x="4992840" y="2880360"/>
            <a:ext cx="2467800" cy="163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180" b="1" u="none" strike="noStrike">
                <a:solidFill>
                  <a:srgbClr val="243142"/>
                </a:solidFill>
                <a:effectLst/>
                <a:uFillTx/>
                <a:latin typeface="Noto Sans CJK KR"/>
                <a:ea typeface="Noto Sans CJK KR"/>
              </a:rPr>
              <a:t>공격적 댓글 필터링 강도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48" name="Shape 57"/>
          <p:cNvSpPr/>
          <p:nvPr/>
        </p:nvSpPr>
        <p:spPr>
          <a:xfrm>
            <a:off x="7498440" y="2944440"/>
            <a:ext cx="3199320" cy="127080"/>
          </a:xfrm>
          <a:prstGeom prst="roundRect">
            <a:avLst>
              <a:gd name="adj" fmla="val 50000"/>
            </a:avLst>
          </a:prstGeom>
          <a:solidFill>
            <a:srgbClr val="E6EDF7"/>
          </a:solidFill>
          <a:ln w="12700">
            <a:solidFill>
              <a:srgbClr val="E6EDF7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49" name="Shape 58"/>
          <p:cNvSpPr/>
          <p:nvPr/>
        </p:nvSpPr>
        <p:spPr>
          <a:xfrm>
            <a:off x="7498440" y="2944440"/>
            <a:ext cx="2175120" cy="127080"/>
          </a:xfrm>
          <a:prstGeom prst="roundRect">
            <a:avLst>
              <a:gd name="adj" fmla="val 50000"/>
            </a:avLst>
          </a:prstGeom>
          <a:solidFill>
            <a:srgbClr val="C95555"/>
          </a:solidFill>
          <a:ln w="12700">
            <a:solidFill>
              <a:srgbClr val="C95555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350" name="Shape 59"/>
          <p:cNvSpPr/>
          <p:nvPr/>
        </p:nvSpPr>
        <p:spPr>
          <a:xfrm>
            <a:off x="9592560" y="2880360"/>
            <a:ext cx="218520" cy="254880"/>
          </a:xfrm>
          <a:prstGeom prst="ellipse">
            <a:avLst/>
          </a:prstGeom>
          <a:solidFill>
            <a:srgbClr val="C95555"/>
          </a:solidFill>
          <a:ln w="1270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351" name="Text 54"/>
          <p:cNvSpPr/>
          <p:nvPr/>
        </p:nvSpPr>
        <p:spPr>
          <a:xfrm>
            <a:off x="4992840" y="3538800"/>
            <a:ext cx="2467800" cy="163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180" b="1" u="none" strike="noStrike">
                <a:solidFill>
                  <a:srgbClr val="243142"/>
                </a:solidFill>
                <a:effectLst/>
                <a:uFillTx/>
                <a:latin typeface="Noto Sans CJK KR"/>
                <a:ea typeface="Noto Sans CJK KR"/>
              </a:rPr>
              <a:t>비하표현 댓글 필터링 강도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52" name="Shape 60"/>
          <p:cNvSpPr/>
          <p:nvPr/>
        </p:nvSpPr>
        <p:spPr>
          <a:xfrm>
            <a:off x="7498440" y="3602880"/>
            <a:ext cx="3199320" cy="127080"/>
          </a:xfrm>
          <a:prstGeom prst="roundRect">
            <a:avLst>
              <a:gd name="adj" fmla="val 50000"/>
            </a:avLst>
          </a:prstGeom>
          <a:solidFill>
            <a:srgbClr val="E6EDF7"/>
          </a:solidFill>
          <a:ln w="12700">
            <a:solidFill>
              <a:srgbClr val="E6EDF7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53" name="Shape 61"/>
          <p:cNvSpPr/>
          <p:nvPr/>
        </p:nvSpPr>
        <p:spPr>
          <a:xfrm>
            <a:off x="7498440" y="3602880"/>
            <a:ext cx="2367360" cy="127080"/>
          </a:xfrm>
          <a:prstGeom prst="roundRect">
            <a:avLst>
              <a:gd name="adj" fmla="val 50000"/>
            </a:avLst>
          </a:prstGeom>
          <a:solidFill>
            <a:srgbClr val="D88B2B"/>
          </a:solidFill>
          <a:ln w="12700">
            <a:solidFill>
              <a:srgbClr val="D88B2B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354" name="Shape 62"/>
          <p:cNvSpPr/>
          <p:nvPr/>
        </p:nvSpPr>
        <p:spPr>
          <a:xfrm>
            <a:off x="9784440" y="3538800"/>
            <a:ext cx="218520" cy="254880"/>
          </a:xfrm>
          <a:prstGeom prst="ellipse">
            <a:avLst/>
          </a:prstGeom>
          <a:solidFill>
            <a:srgbClr val="D88B2B"/>
          </a:solidFill>
          <a:ln w="1270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355" name="Text 55"/>
          <p:cNvSpPr/>
          <p:nvPr/>
        </p:nvSpPr>
        <p:spPr>
          <a:xfrm>
            <a:off x="4992840" y="4197240"/>
            <a:ext cx="2467800" cy="163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180" b="1" u="none" strike="noStrike">
                <a:solidFill>
                  <a:srgbClr val="243142"/>
                </a:solidFill>
                <a:effectLst/>
                <a:uFillTx/>
                <a:latin typeface="Noto Sans CJK KR"/>
                <a:ea typeface="Noto Sans CJK KR"/>
              </a:rPr>
              <a:t>욕설 필터링 강도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56" name="Shape 63"/>
          <p:cNvSpPr/>
          <p:nvPr/>
        </p:nvSpPr>
        <p:spPr>
          <a:xfrm>
            <a:off x="7498440" y="4260960"/>
            <a:ext cx="3199320" cy="127080"/>
          </a:xfrm>
          <a:prstGeom prst="roundRect">
            <a:avLst>
              <a:gd name="adj" fmla="val 50000"/>
            </a:avLst>
          </a:prstGeom>
          <a:solidFill>
            <a:srgbClr val="E6EDF7"/>
          </a:solidFill>
          <a:ln w="12700">
            <a:solidFill>
              <a:srgbClr val="E6EDF7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57" name="Shape 101"/>
          <p:cNvSpPr/>
          <p:nvPr/>
        </p:nvSpPr>
        <p:spPr>
          <a:xfrm>
            <a:off x="7498440" y="4260960"/>
            <a:ext cx="2879280" cy="127080"/>
          </a:xfrm>
          <a:prstGeom prst="roundRect">
            <a:avLst>
              <a:gd name="adj" fmla="val 50000"/>
            </a:avLst>
          </a:prstGeom>
          <a:solidFill>
            <a:srgbClr val="4E87D7"/>
          </a:solidFill>
          <a:ln w="12700">
            <a:solidFill>
              <a:srgbClr val="4E87D7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358" name="Shape 102"/>
          <p:cNvSpPr/>
          <p:nvPr/>
        </p:nvSpPr>
        <p:spPr>
          <a:xfrm>
            <a:off x="10296360" y="4197240"/>
            <a:ext cx="218520" cy="254880"/>
          </a:xfrm>
          <a:prstGeom prst="ellipse">
            <a:avLst/>
          </a:prstGeom>
          <a:solidFill>
            <a:srgbClr val="4E87D7"/>
          </a:solidFill>
          <a:ln w="1270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359" name="Shape 103"/>
          <p:cNvSpPr/>
          <p:nvPr/>
        </p:nvSpPr>
        <p:spPr>
          <a:xfrm>
            <a:off x="4974840" y="4901040"/>
            <a:ext cx="5924160" cy="785160"/>
          </a:xfrm>
          <a:prstGeom prst="roundRect">
            <a:avLst>
              <a:gd name="adj" fmla="val 9302"/>
            </a:avLst>
          </a:prstGeom>
          <a:solidFill>
            <a:srgbClr val="EEF4FC"/>
          </a:solidFill>
          <a:ln w="12700">
            <a:solidFill>
              <a:srgbClr val="D7E1EF"/>
            </a:solidFill>
            <a:round/>
          </a:ln>
          <a:effectLst>
            <a:outerShdw blurRad="15120" dist="7127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60" name="Text 56"/>
          <p:cNvSpPr/>
          <p:nvPr/>
        </p:nvSpPr>
        <p:spPr>
          <a:xfrm>
            <a:off x="5139360" y="5047560"/>
            <a:ext cx="5595120" cy="218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250" b="1" u="none" strike="noStrike">
                <a:solidFill>
                  <a:srgbClr val="183B72"/>
                </a:solidFill>
                <a:effectLst/>
                <a:uFillTx/>
                <a:latin typeface="Noto Sans CJK KR"/>
                <a:ea typeface="Noto Sans CJK KR"/>
              </a:rPr>
              <a:t>의미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61" name="Text 57"/>
          <p:cNvSpPr/>
          <p:nvPr/>
        </p:nvSpPr>
        <p:spPr>
          <a:xfrm>
            <a:off x="5157720" y="5340240"/>
            <a:ext cx="5576760" cy="218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40" b="0" u="none" strike="noStrike">
                <a:solidFill>
                  <a:srgbClr val="243142"/>
                </a:solidFill>
                <a:effectLst/>
                <a:uFillTx/>
                <a:latin typeface="Noto Sans CJK KR"/>
                <a:ea typeface="Noto Sans CJK KR"/>
              </a:rPr>
              <a:t>• 스트리머 또는 운영자가 자신의 방송 / </a:t>
            </a:r>
            <a:r>
              <a:rPr lang="ko-KR" sz="1140" b="0" u="none" strike="noStrike">
                <a:solidFill>
                  <a:srgbClr val="243142"/>
                </a:solidFill>
                <a:effectLst/>
                <a:uFillTx/>
                <a:latin typeface="Noto Sans CJK KR"/>
                <a:ea typeface="Noto Sans CJK KR"/>
              </a:rPr>
              <a:t>커뮤니티 성격에 맞게 필터를 직접 최적화할 수 있음</a:t>
            </a:r>
            <a:endParaRPr lang="en-US" sz="114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62" name="PlaceHolder 6"/>
          <p:cNvSpPr txBox="1"/>
          <p:nvPr/>
        </p:nvSpPr>
        <p:spPr>
          <a:xfrm>
            <a:off x="11110320" y="6428160"/>
            <a:ext cx="456120" cy="200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fld id="{3D96D2E9-0FAB-4FB8-A9F4-2E2507A454A5}" type="slidenum">
              <a:rPr lang="en-US" sz="800" b="0" u="none" strike="noStrike">
                <a:solidFill>
                  <a:srgbClr val="5E6B86"/>
                </a:solidFill>
                <a:effectLst/>
                <a:uFillTx/>
                <a:latin typeface="Malgun Gothic"/>
                <a:ea typeface="Malgun Gothic"/>
              </a:rPr>
              <a:t>13</a:t>
            </a:fld>
            <a:endParaRPr lang="en-US" sz="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</a:majorFont>
      <a:minorFont>
        <a:latin typeface="Malgun Gothic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KR"/>
        <a:ea typeface=""/>
        <a:cs typeface=""/>
      </a:majorFont>
      <a:minorFont>
        <a:latin typeface="Noto Sans CJK KR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</TotalTime>
  <Words>1158</Words>
  <Application>Microsoft Office PowerPoint</Application>
  <PresentationFormat>와이드스크린</PresentationFormat>
  <Paragraphs>248</Paragraphs>
  <Slides>13</Slides>
  <Notes>10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13</vt:i4>
      </vt:variant>
    </vt:vector>
  </HeadingPairs>
  <TitlesOfParts>
    <vt:vector size="21" baseType="lpstr">
      <vt:lpstr>Noto Sans CJK KR</vt:lpstr>
      <vt:lpstr>Malgun Gothic</vt:lpstr>
      <vt:lpstr>Malgun Gothic</vt:lpstr>
      <vt:lpstr>Arial</vt:lpstr>
      <vt:lpstr>Symbol</vt:lpstr>
      <vt:lpstr>Wingdings</vt:lpstr>
      <vt:lpstr>Office Theme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한국어 독성 댓글 탐지 프로젝트</dc:title>
  <dc:subject>PptxGenJS Presentation</dc:subject>
  <dc:creator>OpenAI</dc:creator>
  <dc:description/>
  <cp:lastModifiedBy>재용 신</cp:lastModifiedBy>
  <cp:revision>12</cp:revision>
  <dcterms:created xsi:type="dcterms:W3CDTF">2026-04-07T07:29:06Z</dcterms:created>
  <dcterms:modified xsi:type="dcterms:W3CDTF">2026-04-07T08:21:26Z</dcterms:modified>
  <dc:language>ko-KR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12</vt:r8>
  </property>
  <property fmtid="{D5CDD505-2E9C-101B-9397-08002B2CF9AE}" pid="3" name="PresentationFormat">
    <vt:lpwstr>On-screen Show (16:9)</vt:lpwstr>
  </property>
  <property fmtid="{D5CDD505-2E9C-101B-9397-08002B2CF9AE}" pid="4" name="Slides">
    <vt:r8>12</vt:r8>
  </property>
</Properties>
</file>